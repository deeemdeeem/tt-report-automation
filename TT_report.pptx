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theme/themeOverride1.xml" ContentType="application/vnd.openxmlformats-officedocument.themeOverride+xml"/>
  <Override PartName="/ppt/notesSlides/notesSlide1.xml" ContentType="application/vnd.openxmlformats-officedocument.presentationml.notesSlide+xml"/>
  <Override PartName="/ppt/charts/chart2.xml" ContentType="application/vnd.openxmlformats-officedocument.drawingml.chart+xml"/>
  <Override PartName="/ppt/charts/style1.xml" ContentType="application/vnd.ms-office.chartstyle+xml"/>
  <Override PartName="/ppt/charts/colors1.xml" ContentType="application/vnd.ms-office.chartcolorstyl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charts/chart6.xml" ContentType="application/vnd.openxmlformats-officedocument.drawingml.chart+xml"/>
  <Override PartName="/ppt/charts/style5.xml" ContentType="application/vnd.ms-office.chartstyle+xml"/>
  <Override PartName="/ppt/charts/colors5.xml" ContentType="application/vnd.ms-office.chartcolorstyle+xml"/>
  <Override PartName="/ppt/comments/modernComment_4B8_7ADC29E.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6"/>
  </p:notesMasterIdLst>
  <p:handoutMasterIdLst>
    <p:handoutMasterId r:id="rId307"/>
  </p:handoutMasterIdLst>
  <p:sldIdLst>
    <p:sldId id="1227" r:id="rId265"/>
    <p:sldId id="315" r:id="rId266"/>
    <p:sldId id="1110" r:id="rId267"/>
    <p:sldId id="295" r:id="rId268"/>
    <p:sldId id="1228" r:id="rId269"/>
    <p:sldId id="1229" r:id="rId270"/>
    <p:sldId id="662" r:id="rId271"/>
    <p:sldId id="1204" r:id="rId272"/>
    <p:sldId id="28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208" r:id="rId290"/>
    <p:sldId id="281" r:id="rId291"/>
    <p:sldId id="1156" r:id="rId292"/>
    <p:sldId id="1157" r:id="rId293"/>
    <p:sldId id="1210" r:id="rId294"/>
    <p:sldId id="1211" r:id="rId295"/>
    <p:sldId id="1161" r:id="rId296"/>
    <p:sldId id="578" r:id="rId297"/>
    <p:sldId id="1213" r:id="rId298"/>
    <p:sldId id="1214" r:id="rId299"/>
    <p:sldId id="333" r:id="rId300"/>
    <p:sldId id="1230" r:id="rId301"/>
    <p:sldId id="1231" r:id="rId302"/>
    <p:sldId id="1232" r:id="rId303"/>
    <p:sldId id="297" r:id="rId304"/>
    <p:sldId id="1233" r:id="rId305"/>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150" y="876"/>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slide" Target="slides/slide40.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65" Type="http://schemas.openxmlformats.org/officeDocument/2006/relationships/customXml" Target="../customXml/item65.xml"/><Relationship Id="rId130" Type="http://schemas.openxmlformats.org/officeDocument/2006/relationships/customXml" Target="../customXml/item130.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openxmlformats.org/officeDocument/2006/relationships/notesMaster" Target="notesMasters/notesMaster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openxmlformats.org/officeDocument/2006/relationships/handoutMaster" Target="handoutMasters/handoutMaster1.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openxmlformats.org/officeDocument/2006/relationships/presProps" Target="presProp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309" Type="http://schemas.openxmlformats.org/officeDocument/2006/relationships/viewProps" Target="viewProps.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310" Type="http://schemas.openxmlformats.org/officeDocument/2006/relationships/theme" Target="theme/theme1.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slide" Target="slides/slide36.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311" Type="http://schemas.openxmlformats.org/officeDocument/2006/relationships/tableStyles" Target="tableStyles.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slide" Target="slides/slide37.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312" Type="http://schemas.microsoft.com/office/2016/11/relationships/changesInfo" Target="changesInfos/changesInfo1.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slide" Target="slides/slide38.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313" Type="http://schemas.microsoft.com/office/2015/10/relationships/revisionInfo" Target="revisionInfo.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slide" Target="slides/slide39.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314" Type="http://schemas.microsoft.com/office/2018/10/relationships/authors" Target="authors.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 Id="rId291" Type="http://schemas.openxmlformats.org/officeDocument/2006/relationships/slide" Target="slides/slide27.xml"/><Relationship Id="rId305" Type="http://schemas.openxmlformats.org/officeDocument/2006/relationships/slide" Target="slides/slide41.xml"/><Relationship Id="rId44" Type="http://schemas.openxmlformats.org/officeDocument/2006/relationships/customXml" Target="../customXml/item44.xml"/><Relationship Id="rId86" Type="http://schemas.openxmlformats.org/officeDocument/2006/relationships/customXml" Target="../customXml/item86.xml"/><Relationship Id="rId151" Type="http://schemas.openxmlformats.org/officeDocument/2006/relationships/customXml" Target="../customXml/item1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2"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1.xml"/><Relationship Id="rId1" Type="http://schemas.microsoft.com/office/2011/relationships/chartStyle" Target="style1.xml"/></Relationships>
</file>

<file path=ppt/charts/_rels/chart3.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4.xml"/><Relationship Id="rId1" Type="http://schemas.microsoft.com/office/2011/relationships/chartStyle" Target="style4.xml"/></Relationships>
</file>

<file path=ppt/charts/_rels/chart6.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42089708876316467"/>
          <c:y val="0.1098155617376485"/>
          <c:w val="0.51231965123676881"/>
          <c:h val="0.78036887652470299"/>
        </c:manualLayout>
      </c:layout>
      <c:barChart>
        <c:barDir val="bar"/>
        <c:grouping val="clustered"/>
        <c:varyColors val="0"/>
        <c:ser>
          <c:idx val="0"/>
          <c:order val="0"/>
          <c:spPr>
            <a:solidFill>
              <a:schemeClr val="tx2"/>
            </a:solidFill>
            <a:ln>
              <a:noFill/>
            </a:ln>
            <a:effectLst/>
          </c:spPr>
          <c:invertIfNegative val="0"/>
          <c:dLbls>
            <c:dLbl>
              <c:idx val="0"/>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1-9FA6-47D1-BD19-BBB52407D4D5}"/>
                </c:ext>
              </c:extLst>
            </c:dLbl>
            <c:dLbl>
              <c:idx val="1"/>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9FA6-47D1-BD19-BBB52407D4D5}"/>
                </c:ext>
              </c:extLst>
            </c:dLbl>
            <c:dLbl>
              <c:idx val="2"/>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9FA6-47D1-BD19-BBB52407D4D5}"/>
                </c:ext>
              </c:extLst>
            </c:dLbl>
            <c:spPr>
              <a:noFill/>
              <a:ln>
                <a:noFill/>
              </a:ln>
              <a:effectLst/>
            </c:spPr>
            <c:txPr>
              <a:bodyPr rot="0" vert="horz"/>
              <a:lstStyle/>
              <a:p>
                <a:pP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DrawDemo!$V$24:$V$28</c:f>
              <c:strCache>
                <c:ptCount val="5"/>
                <c:pt idx="0">
                  <c:v>African-American/Black</c:v>
                </c:pt>
                <c:pt idx="1">
                  <c:v>Other</c:v>
                </c:pt>
                <c:pt idx="2">
                  <c:v>Asian</c:v>
                </c:pt>
                <c:pt idx="3">
                  <c:v>Hispanic/Latino</c:v>
                </c:pt>
                <c:pt idx="4">
                  <c:v>Caucasian/White</c:v>
                </c:pt>
              </c:strCache>
            </c:strRef>
          </c:cat>
          <c:val>
            <c:numRef>
              <c:f>DrawDemo!$W$24:$W$28</c:f>
              <c:numCache>
                <c:formatCode>0%</c:formatCode>
                <c:ptCount val="5"/>
                <c:pt idx="0">
                  <c:v>0.05</c:v>
                </c:pt>
                <c:pt idx="1">
                  <c:v>5.04E-2</c:v>
                </c:pt>
                <c:pt idx="2">
                  <c:v>7.9699999999999993E-2</c:v>
                </c:pt>
                <c:pt idx="3">
                  <c:v>0.26140000000000002</c:v>
                </c:pt>
                <c:pt idx="4">
                  <c:v>0.55840000000000001</c:v>
                </c:pt>
              </c:numCache>
            </c:numRef>
          </c:val>
          <c:extLst>
            <c:ext xmlns:c16="http://schemas.microsoft.com/office/drawing/2014/chart" uri="{C3380CC4-5D6E-409C-BE32-E72D297353CC}">
              <c16:uniqueId val="{00000005-9FA6-47D1-BD19-BBB52407D4D5}"/>
            </c:ext>
          </c:extLst>
        </c:ser>
        <c:dLbls>
          <c:showLegendKey val="0"/>
          <c:showVal val="0"/>
          <c:showCatName val="0"/>
          <c:showSerName val="0"/>
          <c:showPercent val="0"/>
          <c:showBubbleSize val="0"/>
        </c:dLbls>
        <c:gapWidth val="10"/>
        <c:axId val="487748287"/>
        <c:axId val="482576239"/>
      </c:barChart>
      <c:catAx>
        <c:axId val="487748287"/>
        <c:scaling>
          <c:orientation val="minMax"/>
        </c:scaling>
        <c:delete val="0"/>
        <c:axPos val="l"/>
        <c:numFmt formatCode="General" sourceLinked="1"/>
        <c:majorTickMark val="out"/>
        <c:minorTickMark val="none"/>
        <c:tickLblPos val="nextTo"/>
        <c:spPr>
          <a:ln>
            <a:noFill/>
          </a:ln>
        </c:spPr>
        <c:crossAx val="482576239"/>
        <c:crosses val="autoZero"/>
        <c:auto val="1"/>
        <c:lblAlgn val="l"/>
        <c:lblOffset val="100"/>
        <c:noMultiLvlLbl val="0"/>
      </c:catAx>
      <c:valAx>
        <c:axId val="482576239"/>
        <c:scaling>
          <c:orientation val="minMax"/>
        </c:scaling>
        <c:delete val="1"/>
        <c:axPos val="b"/>
        <c:numFmt formatCode="0%" sourceLinked="1"/>
        <c:majorTickMark val="out"/>
        <c:minorTickMark val="none"/>
        <c:tickLblPos val="nextTo"/>
        <c:crossAx val="487748287"/>
        <c:crosses val="autoZero"/>
        <c:crossBetween val="between"/>
      </c:valAx>
      <c:spPr>
        <a:noFill/>
        <a:ln>
          <a:noFill/>
        </a:ln>
        <a:effectLst/>
      </c:spPr>
    </c:plotArea>
    <c:plotVisOnly val="1"/>
    <c:dispBlanksAs val="gap"/>
    <c:showDLblsOverMax val="0"/>
  </c:chart>
  <c:spPr>
    <a:noFill/>
    <a:ln>
      <a:noFill/>
    </a:ln>
    <a:effectLst/>
  </c:spPr>
  <c:txPr>
    <a:bodyPr/>
    <a:lstStyle/>
    <a:p>
      <a:pPr>
        <a:defRPr sz="1100"/>
      </a:pPr>
      <a:endParaRPr lang="en-US"/>
    </a:p>
  </c:tx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9773313888131043E-2"/>
          <c:y val="0"/>
          <c:w val="0.85882654720515961"/>
          <c:h val="1"/>
        </c:manualLayout>
      </c:layout>
      <c:barChart>
        <c:barDir val="bar"/>
        <c:grouping val="clustered"/>
        <c:varyColors val="0"/>
        <c:ser>
          <c:idx val="0"/>
          <c:order val="0"/>
          <c:spPr>
            <a:solidFill>
              <a:srgbClr val="00B050"/>
            </a:solidFill>
            <a:ln>
              <a:noFill/>
            </a:ln>
            <a:effectLst/>
          </c:spPr>
          <c:invertIfNegative val="0"/>
          <c:dPt>
            <c:idx val="0"/>
            <c:invertIfNegative val="0"/>
            <c:bubble3D val="0"/>
            <c:spPr>
              <a:solidFill>
                <a:srgbClr val="00B050"/>
              </a:solidFill>
              <a:ln>
                <a:noFill/>
              </a:ln>
              <a:effectLst/>
            </c:spPr>
            <c:extLst>
              <c:ext xmlns:c16="http://schemas.microsoft.com/office/drawing/2014/chart" uri="{C3380CC4-5D6E-409C-BE32-E72D297353CC}">
                <c16:uniqueId val="{00000001-84A2-42A7-9ABB-2BB38D61E86E}"/>
              </c:ext>
            </c:extLst>
          </c:dPt>
          <c:dPt>
            <c:idx val="1"/>
            <c:invertIfNegative val="0"/>
            <c:bubble3D val="0"/>
            <c:extLst>
              <c:ext xmlns:c16="http://schemas.microsoft.com/office/drawing/2014/chart" uri="{C3380CC4-5D6E-409C-BE32-E72D297353CC}">
                <c16:uniqueId val="{00000003-84A2-42A7-9ABB-2BB38D61E86E}"/>
              </c:ext>
            </c:extLst>
          </c:dPt>
          <c:dPt>
            <c:idx val="2"/>
            <c:invertIfNegative val="0"/>
            <c:bubble3D val="0"/>
            <c:spPr>
              <a:solidFill>
                <a:srgbClr val="FF0000"/>
              </a:solidFill>
              <a:ln>
                <a:noFill/>
              </a:ln>
              <a:effectLst/>
            </c:spPr>
            <c:extLst>
              <c:ext xmlns:c16="http://schemas.microsoft.com/office/drawing/2014/chart" uri="{C3380CC4-5D6E-409C-BE32-E72D297353CC}">
                <c16:uniqueId val="{00000005-84A2-42A7-9ABB-2BB38D61E86E}"/>
              </c:ext>
            </c:extLst>
          </c:dPt>
          <c:dPt>
            <c:idx val="3"/>
            <c:invertIfNegative val="0"/>
            <c:bubble3D val="0"/>
            <c:extLst>
              <c:ext xmlns:c16="http://schemas.microsoft.com/office/drawing/2014/chart" uri="{C3380CC4-5D6E-409C-BE32-E72D297353CC}">
                <c16:uniqueId val="{00000007-84A2-42A7-9ABB-2BB38D61E86E}"/>
              </c:ext>
            </c:extLst>
          </c:dPt>
          <c:dPt>
            <c:idx val="4"/>
            <c:invertIfNegative val="0"/>
            <c:bubble3D val="0"/>
            <c:extLst>
              <c:ext xmlns:c16="http://schemas.microsoft.com/office/drawing/2014/chart" uri="{C3380CC4-5D6E-409C-BE32-E72D297353CC}">
                <c16:uniqueId val="{00000009-84A2-42A7-9ABB-2BB38D61E86E}"/>
              </c:ext>
            </c:extLst>
          </c:dPt>
          <c:dPt>
            <c:idx val="5"/>
            <c:invertIfNegative val="0"/>
            <c:bubble3D val="0"/>
            <c:extLst>
              <c:ext xmlns:c16="http://schemas.microsoft.com/office/drawing/2014/chart" uri="{C3380CC4-5D6E-409C-BE32-E72D297353CC}">
                <c16:uniqueId val="{0000000B-84A2-42A7-9ABB-2BB38D61E86E}"/>
              </c:ext>
            </c:extLst>
          </c:dPt>
          <c:dPt>
            <c:idx val="6"/>
            <c:invertIfNegative val="0"/>
            <c:bubble3D val="0"/>
            <c:extLst>
              <c:ext xmlns:c16="http://schemas.microsoft.com/office/drawing/2014/chart" uri="{C3380CC4-5D6E-409C-BE32-E72D297353CC}">
                <c16:uniqueId val="{0000000D-84A2-42A7-9ABB-2BB38D61E86E}"/>
              </c:ext>
            </c:extLst>
          </c:dPt>
          <c:dPt>
            <c:idx val="7"/>
            <c:invertIfNegative val="0"/>
            <c:bubble3D val="0"/>
            <c:spPr>
              <a:solidFill>
                <a:srgbClr val="FF0000"/>
              </a:solidFill>
              <a:ln>
                <a:noFill/>
              </a:ln>
              <a:effectLst/>
            </c:spPr>
            <c:extLst>
              <c:ext xmlns:c16="http://schemas.microsoft.com/office/drawing/2014/chart" uri="{C3380CC4-5D6E-409C-BE32-E72D297353CC}">
                <c16:uniqueId val="{0000000F-84A2-42A7-9ABB-2BB38D61E86E}"/>
              </c:ext>
            </c:extLst>
          </c:dPt>
          <c:dPt>
            <c:idx val="8"/>
            <c:invertIfNegative val="0"/>
            <c:bubble3D val="0"/>
            <c:spPr>
              <a:solidFill>
                <a:srgbClr val="FF0000"/>
              </a:solidFill>
              <a:ln>
                <a:noFill/>
              </a:ln>
              <a:effectLst/>
            </c:spPr>
            <c:extLst>
              <c:ext xmlns:c16="http://schemas.microsoft.com/office/drawing/2014/chart" uri="{C3380CC4-5D6E-409C-BE32-E72D297353CC}">
                <c16:uniqueId val="{00000011-84A2-42A7-9ABB-2BB38D61E86E}"/>
              </c:ext>
            </c:extLst>
          </c:dPt>
          <c:dPt>
            <c:idx val="9"/>
            <c:invertIfNegative val="0"/>
            <c:bubble3D val="0"/>
            <c:spPr>
              <a:solidFill>
                <a:srgbClr val="00B050"/>
              </a:solidFill>
              <a:ln>
                <a:noFill/>
              </a:ln>
              <a:effectLst/>
            </c:spPr>
            <c:extLst>
              <c:ext xmlns:c16="http://schemas.microsoft.com/office/drawing/2014/chart" uri="{C3380CC4-5D6E-409C-BE32-E72D297353CC}">
                <c16:uniqueId val="{00000013-84A2-42A7-9ABB-2BB38D61E86E}"/>
              </c:ext>
            </c:extLst>
          </c:dPt>
          <c:dPt>
            <c:idx val="10"/>
            <c:invertIfNegative val="0"/>
            <c:bubble3D val="0"/>
            <c:extLst>
              <c:ext xmlns:c16="http://schemas.microsoft.com/office/drawing/2014/chart" uri="{C3380CC4-5D6E-409C-BE32-E72D297353CC}">
                <c16:uniqueId val="{00000015-84A2-42A7-9ABB-2BB38D61E86E}"/>
              </c:ext>
            </c:extLst>
          </c:dPt>
          <c:dPt>
            <c:idx val="11"/>
            <c:invertIfNegative val="0"/>
            <c:bubble3D val="0"/>
            <c:extLst>
              <c:ext xmlns:c16="http://schemas.microsoft.com/office/drawing/2014/chart" uri="{C3380CC4-5D6E-409C-BE32-E72D297353CC}">
                <c16:uniqueId val="{00000017-84A2-42A7-9ABB-2BB38D61E86E}"/>
              </c:ext>
            </c:extLst>
          </c:dPt>
          <c:dPt>
            <c:idx val="12"/>
            <c:invertIfNegative val="0"/>
            <c:bubble3D val="0"/>
            <c:extLst>
              <c:ext xmlns:c16="http://schemas.microsoft.com/office/drawing/2014/chart" uri="{C3380CC4-5D6E-409C-BE32-E72D297353CC}">
                <c16:uniqueId val="{00000019-84A2-42A7-9ABB-2BB38D61E86E}"/>
              </c:ext>
            </c:extLst>
          </c:dPt>
          <c:dPt>
            <c:idx val="13"/>
            <c:invertIfNegative val="0"/>
            <c:bubble3D val="0"/>
            <c:spPr>
              <a:solidFill>
                <a:srgbClr val="FF0000"/>
              </a:solidFill>
              <a:ln>
                <a:noFill/>
              </a:ln>
              <a:effectLst/>
            </c:spPr>
            <c:extLst>
              <c:ext xmlns:c16="http://schemas.microsoft.com/office/drawing/2014/chart" uri="{C3380CC4-5D6E-409C-BE32-E72D297353CC}">
                <c16:uniqueId val="{0000001B-84A2-42A7-9ABB-2BB38D61E86E}"/>
              </c:ext>
            </c:extLst>
          </c:dPt>
          <c:dPt>
            <c:idx val="14"/>
            <c:invertIfNegative val="0"/>
            <c:bubble3D val="0"/>
            <c:spPr>
              <a:solidFill>
                <a:srgbClr val="FF0000"/>
              </a:solidFill>
              <a:ln>
                <a:noFill/>
              </a:ln>
              <a:effectLst/>
            </c:spPr>
            <c:extLst>
              <c:ext xmlns:c16="http://schemas.microsoft.com/office/drawing/2014/chart" uri="{C3380CC4-5D6E-409C-BE32-E72D297353CC}">
                <c16:uniqueId val="{0000001D-84A2-42A7-9ABB-2BB38D61E86E}"/>
              </c:ext>
            </c:extLst>
          </c:dPt>
          <c:dPt>
            <c:idx val="15"/>
            <c:invertIfNegative val="0"/>
            <c:bubble3D val="0"/>
            <c:spPr>
              <a:solidFill>
                <a:srgbClr val="FF0000"/>
              </a:solidFill>
              <a:ln>
                <a:noFill/>
              </a:ln>
              <a:effectLst/>
            </c:spPr>
            <c:extLst>
              <c:ext xmlns:c16="http://schemas.microsoft.com/office/drawing/2014/chart" uri="{C3380CC4-5D6E-409C-BE32-E72D297353CC}">
                <c16:uniqueId val="{0000001F-84A2-42A7-9ABB-2BB38D61E86E}"/>
              </c:ext>
            </c:extLst>
          </c:dPt>
          <c:dPt>
            <c:idx val="16"/>
            <c:invertIfNegative val="0"/>
            <c:bubble3D val="0"/>
            <c:extLst>
              <c:ext xmlns:c16="http://schemas.microsoft.com/office/drawing/2014/chart" uri="{C3380CC4-5D6E-409C-BE32-E72D297353CC}">
                <c16:uniqueId val="{00000021-84A2-42A7-9ABB-2BB38D61E86E}"/>
              </c:ext>
            </c:extLst>
          </c:dPt>
          <c:dPt>
            <c:idx val="17"/>
            <c:invertIfNegative val="0"/>
            <c:bubble3D val="0"/>
            <c:extLst>
              <c:ext xmlns:c16="http://schemas.microsoft.com/office/drawing/2014/chart" uri="{C3380CC4-5D6E-409C-BE32-E72D297353CC}">
                <c16:uniqueId val="{00000023-84A2-42A7-9ABB-2BB38D61E86E}"/>
              </c:ext>
            </c:extLst>
          </c:dPt>
          <c:dPt>
            <c:idx val="18"/>
            <c:invertIfNegative val="0"/>
            <c:bubble3D val="0"/>
            <c:extLst>
              <c:ext xmlns:c16="http://schemas.microsoft.com/office/drawing/2014/chart" uri="{C3380CC4-5D6E-409C-BE32-E72D297353CC}">
                <c16:uniqueId val="{00000025-84A2-42A7-9ABB-2BB38D61E86E}"/>
              </c:ext>
            </c:extLst>
          </c:dPt>
          <c:dPt>
            <c:idx val="19"/>
            <c:invertIfNegative val="0"/>
            <c:bubble3D val="0"/>
            <c:extLst>
              <c:ext xmlns:c16="http://schemas.microsoft.com/office/drawing/2014/chart" uri="{C3380CC4-5D6E-409C-BE32-E72D297353CC}">
                <c16:uniqueId val="{00000027-84A2-42A7-9ABB-2BB38D61E86E}"/>
              </c:ext>
            </c:extLst>
          </c:dPt>
          <c:dPt>
            <c:idx val="20"/>
            <c:invertIfNegative val="0"/>
            <c:bubble3D val="0"/>
            <c:extLst>
              <c:ext xmlns:c16="http://schemas.microsoft.com/office/drawing/2014/chart" uri="{C3380CC4-5D6E-409C-BE32-E72D297353CC}">
                <c16:uniqueId val="{00000029-84A2-42A7-9ABB-2BB38D61E86E}"/>
              </c:ext>
            </c:extLst>
          </c:dPt>
          <c:dPt>
            <c:idx val="21"/>
            <c:invertIfNegative val="0"/>
            <c:bubble3D val="0"/>
            <c:spPr>
              <a:solidFill>
                <a:srgbClr val="FF0000"/>
              </a:solidFill>
              <a:ln>
                <a:noFill/>
              </a:ln>
              <a:effectLst/>
            </c:spPr>
            <c:extLst>
              <c:ext xmlns:c16="http://schemas.microsoft.com/office/drawing/2014/chart" uri="{C3380CC4-5D6E-409C-BE32-E72D297353CC}">
                <c16:uniqueId val="{0000002B-84A2-42A7-9ABB-2BB38D61E86E}"/>
              </c:ext>
            </c:extLst>
          </c:dPt>
          <c:dPt>
            <c:idx val="22"/>
            <c:invertIfNegative val="0"/>
            <c:bubble3D val="0"/>
            <c:spPr>
              <a:solidFill>
                <a:srgbClr val="FF0000"/>
              </a:solidFill>
              <a:ln>
                <a:noFill/>
              </a:ln>
              <a:effectLst/>
            </c:spPr>
            <c:extLst>
              <c:ext xmlns:c16="http://schemas.microsoft.com/office/drawing/2014/chart" uri="{C3380CC4-5D6E-409C-BE32-E72D297353CC}">
                <c16:uniqueId val="{0000002D-84A2-42A7-9ABB-2BB38D61E86E}"/>
              </c:ext>
            </c:extLst>
          </c:dPt>
          <c:dPt>
            <c:idx val="23"/>
            <c:invertIfNegative val="0"/>
            <c:bubble3D val="0"/>
            <c:extLst>
              <c:ext xmlns:c16="http://schemas.microsoft.com/office/drawing/2014/chart" uri="{C3380CC4-5D6E-409C-BE32-E72D297353CC}">
                <c16:uniqueId val="{0000002F-84A2-42A7-9ABB-2BB38D61E86E}"/>
              </c:ext>
            </c:extLst>
          </c:dPt>
          <c:dPt>
            <c:idx val="24"/>
            <c:invertIfNegative val="0"/>
            <c:bubble3D val="0"/>
            <c:spPr>
              <a:solidFill>
                <a:srgbClr val="FF0000"/>
              </a:solidFill>
              <a:ln>
                <a:noFill/>
              </a:ln>
              <a:effectLst/>
            </c:spPr>
            <c:extLst>
              <c:ext xmlns:c16="http://schemas.microsoft.com/office/drawing/2014/chart" uri="{C3380CC4-5D6E-409C-BE32-E72D297353CC}">
                <c16:uniqueId val="{00000031-84A2-42A7-9ABB-2BB38D61E86E}"/>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2">
                        <a:lumMod val="10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val>
            <c:numRef>
              <c:f>MileageDemo!$Q$4:$Q$28</c:f>
              <c:numCache>
                <c:formatCode>0</c:formatCode>
                <c:ptCount val="25"/>
                <c:pt idx="0">
                  <c:v>200</c:v>
                </c:pt>
                <c:pt idx="1">
                  <c:v>142.85714285714286</c:v>
                </c:pt>
                <c:pt idx="2">
                  <c:v>73.521126760563376</c:v>
                </c:pt>
                <c:pt idx="3">
                  <c:v>121.95121951219512</c:v>
                </c:pt>
                <c:pt idx="4">
                  <c:v>106.48854961832062</c:v>
                </c:pt>
                <c:pt idx="5">
                  <c:v>107.14285714285714</c:v>
                </c:pt>
                <c:pt idx="6">
                  <c:v>108.73493975903614</c:v>
                </c:pt>
                <c:pt idx="7">
                  <c:v>93.965517241379303</c:v>
                </c:pt>
                <c:pt idx="8">
                  <c:v>88.28451882845188</c:v>
                </c:pt>
                <c:pt idx="9">
                  <c:v>167.08860759493675</c:v>
                </c:pt>
                <c:pt idx="10">
                  <c:v>117.79781080520138</c:v>
                </c:pt>
                <c:pt idx="11">
                  <c:v>160.17699115044246</c:v>
                </c:pt>
                <c:pt idx="12">
                  <c:v>121.02272727272727</c:v>
                </c:pt>
                <c:pt idx="13">
                  <c:v>92.857142857142861</c:v>
                </c:pt>
                <c:pt idx="14">
                  <c:v>75.151515151515142</c:v>
                </c:pt>
                <c:pt idx="15">
                  <c:v>59.934853420195445</c:v>
                </c:pt>
                <c:pt idx="16">
                  <c:v>105.8411214953271</c:v>
                </c:pt>
                <c:pt idx="17">
                  <c:v>122.90076335877862</c:v>
                </c:pt>
                <c:pt idx="18">
                  <c:v>114.70588235294117</c:v>
                </c:pt>
                <c:pt idx="19">
                  <c:v>116.23376623376622</c:v>
                </c:pt>
                <c:pt idx="20">
                  <c:v>104.14507772020724</c:v>
                </c:pt>
                <c:pt idx="21">
                  <c:v>85.046728971962608</c:v>
                </c:pt>
                <c:pt idx="22">
                  <c:v>70.348837209302332</c:v>
                </c:pt>
              </c:numCache>
            </c:numRef>
          </c:val>
          <c:extLst>
            <c:ext xmlns:c16="http://schemas.microsoft.com/office/drawing/2014/chart" uri="{C3380CC4-5D6E-409C-BE32-E72D297353CC}">
              <c16:uniqueId val="{00000032-84A2-42A7-9ABB-2BB38D61E86E}"/>
            </c:ext>
          </c:extLst>
        </c:ser>
        <c:dLbls>
          <c:showLegendKey val="0"/>
          <c:showVal val="0"/>
          <c:showCatName val="0"/>
          <c:showSerName val="0"/>
          <c:showPercent val="0"/>
          <c:showBubbleSize val="0"/>
        </c:dLbls>
        <c:gapWidth val="182"/>
        <c:axId val="2032768144"/>
        <c:axId val="2138993600"/>
      </c:barChart>
      <c:catAx>
        <c:axId val="2032768144"/>
        <c:scaling>
          <c:orientation val="minMax"/>
        </c:scaling>
        <c:delete val="1"/>
        <c:axPos val="l"/>
        <c:majorTickMark val="none"/>
        <c:minorTickMark val="none"/>
        <c:tickLblPos val="nextTo"/>
        <c:crossAx val="2138993600"/>
        <c:crosses val="autoZero"/>
        <c:auto val="1"/>
        <c:lblAlgn val="ctr"/>
        <c:lblOffset val="100"/>
        <c:noMultiLvlLbl val="0"/>
      </c:catAx>
      <c:valAx>
        <c:axId val="2138993600"/>
        <c:scaling>
          <c:orientation val="minMax"/>
          <c:max val="300"/>
          <c:min val="0"/>
        </c:scaling>
        <c:delete val="1"/>
        <c:axPos val="b"/>
        <c:numFmt formatCode="0" sourceLinked="1"/>
        <c:majorTickMark val="out"/>
        <c:minorTickMark val="none"/>
        <c:tickLblPos val="nextTo"/>
        <c:crossAx val="20327681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1-642B-460C-82BC-4D02400EC45B}"/>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642B-460C-82BC-4D02400EC45B}"/>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Frequency!$J$22:$J$31</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Frequency!$K$22:$K$31</c:f>
              <c:numCache>
                <c:formatCode>0.0</c:formatCode>
                <c:ptCount val="10"/>
                <c:pt idx="0">
                  <c:v>1.2</c:v>
                </c:pt>
                <c:pt idx="1">
                  <c:v>1.3</c:v>
                </c:pt>
                <c:pt idx="2">
                  <c:v>1.3</c:v>
                </c:pt>
                <c:pt idx="3">
                  <c:v>1.5</c:v>
                </c:pt>
                <c:pt idx="4">
                  <c:v>1.3</c:v>
                </c:pt>
                <c:pt idx="5">
                  <c:v>1.3</c:v>
                </c:pt>
                <c:pt idx="6">
                  <c:v>1.4</c:v>
                </c:pt>
                <c:pt idx="7">
                  <c:v>1.4</c:v>
                </c:pt>
                <c:pt idx="8">
                  <c:v>1.2</c:v>
                </c:pt>
                <c:pt idx="9">
                  <c:v>1.4</c:v>
                </c:pt>
              </c:numCache>
            </c:numRef>
          </c:val>
          <c:extLst>
            <c:ext xmlns:c16="http://schemas.microsoft.com/office/drawing/2014/chart" uri="{C3380CC4-5D6E-409C-BE32-E72D297353CC}">
              <c16:uniqueId val="{00000000-38B6-428C-8FB8-AC8CA08C3898}"/>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41090696998"/>
          <c:y val="3.1161639909740545E-2"/>
          <c:w val="0.50424558909303008"/>
          <c:h val="0.93767672018051895"/>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3-F313-47FF-BEF0-509DAB6991A5}"/>
              </c:ext>
            </c:extLst>
          </c:dPt>
          <c:dPt>
            <c:idx val="12"/>
            <c:invertIfNegative val="0"/>
            <c:bubble3D val="0"/>
            <c:extLst>
              <c:ext xmlns:c16="http://schemas.microsoft.com/office/drawing/2014/chart" uri="{C3380CC4-5D6E-409C-BE32-E72D297353CC}">
                <c16:uniqueId val="{00000000-C2C3-42A4-93D9-409B7A9B7A56}"/>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F313-47FF-BEF0-509DAB6991A5}"/>
                </c:ext>
              </c:extLst>
            </c:dLbl>
            <c:dLbl>
              <c:idx val="12"/>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0-C2C3-42A4-93D9-409B7A9B7A56}"/>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Duration!$J$23:$J$32</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Duration!$K$23:$K$32</c:f>
              <c:numCache>
                <c:formatCode>0.0</c:formatCode>
                <c:ptCount val="10"/>
                <c:pt idx="0">
                  <c:v>86</c:v>
                </c:pt>
                <c:pt idx="1">
                  <c:v>100.6</c:v>
                </c:pt>
                <c:pt idx="2">
                  <c:v>114.5</c:v>
                </c:pt>
                <c:pt idx="3">
                  <c:v>98.7</c:v>
                </c:pt>
                <c:pt idx="4">
                  <c:v>84</c:v>
                </c:pt>
                <c:pt idx="5">
                  <c:v>96.8</c:v>
                </c:pt>
                <c:pt idx="6">
                  <c:v>83.7</c:v>
                </c:pt>
                <c:pt idx="7">
                  <c:v>111.2</c:v>
                </c:pt>
                <c:pt idx="8">
                  <c:v>92.5</c:v>
                </c:pt>
                <c:pt idx="9">
                  <c:v>99.7</c:v>
                </c:pt>
              </c:numCache>
            </c:numRef>
          </c:val>
          <c:extLst>
            <c:ext xmlns:c16="http://schemas.microsoft.com/office/drawing/2014/chart" uri="{C3380CC4-5D6E-409C-BE32-E72D297353CC}">
              <c16:uniqueId val="{00000000-736D-492A-8125-4F37DFD1A72D}"/>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scaling>
        <c:delete val="1"/>
        <c:axPos val="b"/>
        <c:numFmt formatCode="#,##0" sourceLinked="0"/>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omments/modernComment_4B8_7ADC29E.xml><?xml version="1.0" encoding="utf-8"?>
<p188:cmLst xmlns:a="http://schemas.openxmlformats.org/drawingml/2006/main" xmlns:r="http://schemas.openxmlformats.org/officeDocument/2006/relationships" xmlns:p188="http://schemas.microsoft.com/office/powerpoint/2018/8/main">
  <p188:cm id="{62D44F0E-51B0-4009-B7C0-D80B03601CB6}" authorId="{2C3B8E2E-4BC0-BA7F-81EC-B23A708CC141}" status="resolved" created="2024-11-18T18:20:15.139" startDate="2024-11-18T18:20:15.139" dueDate="2024-11-18T18:20:15.139" assignedTo="{AC25360F-EB43-2902-7B56-8017DDC6F6DE}" complete="100000" title="@Daniel Galang ">
    <ac:txMkLst xmlns:ac="http://schemas.microsoft.com/office/drawing/2013/main/command">
      <pc:docMk xmlns:pc="http://schemas.microsoft.com/office/powerpoint/2013/main/command"/>
      <pc:sldMk xmlns:pc="http://schemas.microsoft.com/office/powerpoint/2013/main/command" cId="128828062" sldId="1208"/>
      <ac:spMk id="4" creationId="{EA859220-890B-7CF5-D6DF-3E908C864F04}"/>
      <ac:txMk cp="0" len="202">
        <ac:context len="203" hash="618350821"/>
      </ac:txMk>
    </ac:txMkLst>
    <p188:pos x="3507059" y="2049780"/>
    <p188:txBody>
      <a:bodyPr/>
      <a:lstStyle/>
      <a:p>
        <a:r>
          <a:rPr lang="en-US"/>
          <a:t>[@Daniel Galang] </a:t>
        </a:r>
      </a:p>
    </p188:txBody>
    <p188:extLst>
      <p:ext xmlns:p="http://schemas.openxmlformats.org/presentationml/2006/main" uri="{5BB2D875-25FF-4072-B9AC-8F64D62656EB}">
        <p228:taskDetails xmlns:p228="http://schemas.microsoft.com/office/powerpoint/2022/08/main">
          <p228:history>
            <p228:event time="2024-11-18T18:20:15.139" id="{6F84E1B0-B542-4DB4-BD96-4089F536D4DB}">
              <p228:atrbtn authorId="{2C3B8E2E-4BC0-BA7F-81EC-B23A708CC141}"/>
              <p228:anchr>
                <p228:comment id="{62D44F0E-51B0-4009-B7C0-D80B03601CB6}"/>
              </p228:anchr>
              <p228:add/>
            </p228:event>
            <p228:event time="2024-11-18T18:20:15.139" id="{51974E32-3DA8-482C-B4AA-A74EA1ED2229}">
              <p228:atrbtn authorId="{2C3B8E2E-4BC0-BA7F-81EC-B23A708CC141}"/>
              <p228:anchr>
                <p228:comment id="{62D44F0E-51B0-4009-B7C0-D80B03601CB6}"/>
              </p228:anchr>
              <p228:asgn authorId="{AC25360F-EB43-2902-7B56-8017DDC6F6DE}"/>
            </p228:event>
            <p228:event time="2024-11-18T18:20:15.139" id="{ECEFEE6C-C865-4DE2-9FE2-A7775EC19802}">
              <p228:atrbtn authorId="{2C3B8E2E-4BC0-BA7F-81EC-B23A708CC141}"/>
              <p228:anchr>
                <p228:comment id="{62D44F0E-51B0-4009-B7C0-D80B03601CB6}"/>
              </p228:anchr>
              <p228:title val="@Daniel Galang "/>
            </p228:event>
            <p228:event time="2024-11-18T18:20:15.139" id="{9BBD5E51-5212-4FF3-BDAF-E52643518F2F}">
              <p228:atrbtn authorId="{2C3B8E2E-4BC0-BA7F-81EC-B23A708CC141}"/>
              <p228:anchr>
                <p228:comment id="{62D44F0E-51B0-4009-B7C0-D80B03601CB6}"/>
              </p228:anchr>
              <p228:date stDt="2024-11-18T18:20:15.139" endDt="2024-11-18T18:20:15.139"/>
            </p228:event>
            <p228:event time="2025-05-15T13:18:56.925" id="{BB68F13B-91DC-4E76-8D6C-84C2DD4CB57B}">
              <p228:atrbtn authorId="{27BAB71E-D90A-5B83-8076-486F23B90890}"/>
              <p228:anchr>
                <p228:comment id="{00000000-0000-0000-0000-000000000000}"/>
              </p228:anchr>
              <p228:pcntCmplt val="100000"/>
            </p228:event>
          </p228:history>
        </p228:taskDetails>
      </p:ext>
    </p188:extLst>
  </p188:cm>
  <p188:cm id="{07AD8E03-FE3B-4DC2-9C1F-F7C4FD02E4AC}" authorId="{2C3B8E2E-4BC0-BA7F-81EC-B23A708CC141}" status="resolved" created="2024-11-18T18:20:28.682" complete="100000">
    <ac:txMkLst xmlns:ac="http://schemas.microsoft.com/office/drawing/2013/main/command">
      <pc:docMk xmlns:pc="http://schemas.microsoft.com/office/powerpoint/2013/main/command"/>
      <pc:sldMk xmlns:pc="http://schemas.microsoft.com/office/powerpoint/2013/main/command" cId="128828062" sldId="1208"/>
      <ac:spMk id="2" creationId="{D996A255-077A-3887-0A14-DF42A3F2677B}"/>
      <ac:txMk cp="0" len="130">
        <ac:context len="131" hash="535515854"/>
      </ac:txMk>
    </ac:txMkLst>
    <p188:pos x="8312955" y="1143435"/>
    <p188:txBody>
      <a:bodyPr/>
      <a:lstStyle/>
      <a:p>
        <a:r>
          <a:rPr lang="en-US"/>
          <a:t>[@Daniel Galang] </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10/30/2025</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10/30/2025</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61317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10/30/2025</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2025,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10/30/2025</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chart" Target="../charts/chart1.xml"/><Relationship Id="rId7" Type="http://schemas.openxmlformats.org/officeDocument/2006/relationships/image" Target="../media/image17.png"/><Relationship Id="rId12" Type="http://schemas.openxmlformats.org/officeDocument/2006/relationships/image" Target="../media/image22.sv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jpeg"/><Relationship Id="rId10" Type="http://schemas.openxmlformats.org/officeDocument/2006/relationships/image" Target="../media/image20.sv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39.jpeg"/><Relationship Id="rId2" Type="http://schemas.microsoft.com/office/2018/10/relationships/comments" Target="../comments/modernComment_4B8_7ADC29E.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jpeg"/><Relationship Id="rId7" Type="http://schemas.openxmlformats.org/officeDocument/2006/relationships/image" Target="../media/image45.svg"/><Relationship Id="rId2" Type="http://schemas.openxmlformats.org/officeDocument/2006/relationships/image" Target="../media/image40.png"/><Relationship Id="rId1" Type="http://schemas.openxmlformats.org/officeDocument/2006/relationships/slideLayout" Target="../slideLayouts/slideLayout10.xml"/><Relationship Id="rId6" Type="http://schemas.openxmlformats.org/officeDocument/2006/relationships/image" Target="../media/image44.png"/><Relationship Id="rId5" Type="http://schemas.openxmlformats.org/officeDocument/2006/relationships/image" Target="../media/image43.svg"/><Relationship Id="rId4" Type="http://schemas.openxmlformats.org/officeDocument/2006/relationships/image" Target="../media/image42.png"/><Relationship Id="rId9" Type="http://schemas.openxmlformats.org/officeDocument/2006/relationships/image" Target="../media/image47.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jpe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October 30, 2025</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a:solidFill>
                  <a:srgbClr val="273E6D"/>
                </a:solidFill>
                <a:latin typeface="+mj-lt"/>
                <a:cs typeface="Arial" panose="020B0604020202020204" pitchFamily="34" charset="0"/>
              </a:rPr>
              <a:t>Time period of the data: September 2023 – August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graphicFrame>
        <p:nvGraphicFramePr>
          <p:cNvPr id="58" name="Chart 57">
            <a:extLst>
              <a:ext uri="{FF2B5EF4-FFF2-40B4-BE49-F238E27FC236}">
                <a16:creationId xmlns:a16="http://schemas.microsoft.com/office/drawing/2014/main" id="{3CA9C49D-5C48-41BF-A010-BB2CED44A54C}"/>
              </a:ext>
            </a:extLst>
          </p:cNvPr>
          <p:cNvGraphicFramePr>
            <a:graphicFrameLocks/>
          </p:cNvGraphicFramePr>
          <p:nvPr>
            <p:extLst>
              <p:ext uri="{D42A27DB-BD31-4B8C-83A1-F6EECF244321}">
                <p14:modId xmlns:p14="http://schemas.microsoft.com/office/powerpoint/2010/main" val="342788838"/>
              </p:ext>
            </p:extLst>
          </p:nvPr>
        </p:nvGraphicFramePr>
        <p:xfrm>
          <a:off x="0" y="5633931"/>
          <a:ext cx="3747184" cy="1492311"/>
        </p:xfrm>
        <a:graphic>
          <a:graphicData uri="http://schemas.openxmlformats.org/drawingml/2006/chart">
            <c:chart xmlns:c="http://schemas.openxmlformats.org/drawingml/2006/chart" xmlns:r="http://schemas.openxmlformats.org/officeDocument/2006/relationships" r:id="rId3"/>
          </a:graphicData>
        </a:graphic>
      </p:graphicFrame>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4"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5"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6"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VISITOR ORIGIN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7">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a:solidFill>
                  <a:srgbClr val="0C0C0C"/>
                </a:solidFill>
                <a:latin typeface="Arial" panose="020B0604020202020204"/>
              </a:rPr>
              <a:t>ZIP5</a:t>
            </a:r>
            <a:endParaRPr lang="en-US" sz="1020" dirty="0">
              <a:solidFill>
                <a:srgbClr val="0C0C0C"/>
              </a:solidFill>
              <a:latin typeface="Arial" panose="020B0604020202020204"/>
            </a:endParaRP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8"/>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3"/>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dirty="0">
                <a:solidFill>
                  <a:srgbClr val="000000"/>
                </a:solidFill>
              </a:rPr>
              <a:t>[Destination Name]</a:t>
            </a:r>
            <a:endParaRPr lang="en-US" sz="2800" dirty="0"/>
          </a:p>
          <a:p>
            <a:r>
              <a:rPr lang="en-US" sz="2800" dirty="0">
                <a:solidFill>
                  <a:srgbClr val="000000"/>
                </a:solidFill>
              </a:rPr>
              <a:t>Visitor Personas</a:t>
            </a:r>
            <a:endParaRPr lang="en-US" sz="2800" dirty="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dirty="0">
                <a:ea typeface="Calibri"/>
                <a:cs typeface="Calibri"/>
              </a:rPr>
              <a:t>Top 4 Visitor Personas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dirty="0">
                <a:solidFill>
                  <a:schemeClr val="tx1"/>
                </a:solidFill>
              </a:rPr>
              <a:t> </a:t>
            </a:r>
            <a:endParaRPr lang="en-US" sz="1200" dirty="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dirty="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dirty="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dirty="0">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533311" y="2508340"/>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19" name="Rectangle 18">
            <a:extLst>
              <a:ext uri="{FF2B5EF4-FFF2-40B4-BE49-F238E27FC236}">
                <a16:creationId xmlns:a16="http://schemas.microsoft.com/office/drawing/2014/main" id="{1627CCF2-D9C0-21B7-F89F-8E5098A9A502}"/>
              </a:ext>
            </a:extLst>
          </p:cNvPr>
          <p:cNvSpPr/>
          <p:nvPr/>
        </p:nvSpPr>
        <p:spPr>
          <a:xfrm>
            <a:off x="4322232" y="2490424"/>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0" name="Rectangle 19">
            <a:extLst>
              <a:ext uri="{FF2B5EF4-FFF2-40B4-BE49-F238E27FC236}">
                <a16:creationId xmlns:a16="http://schemas.microsoft.com/office/drawing/2014/main" id="{FA28097F-1F0F-3039-3EB0-73272A614D93}"/>
              </a:ext>
            </a:extLst>
          </p:cNvPr>
          <p:cNvSpPr/>
          <p:nvPr/>
        </p:nvSpPr>
        <p:spPr>
          <a:xfrm>
            <a:off x="7161297"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1" name="Rectangle 20">
            <a:extLst>
              <a:ext uri="{FF2B5EF4-FFF2-40B4-BE49-F238E27FC236}">
                <a16:creationId xmlns:a16="http://schemas.microsoft.com/office/drawing/2014/main" id="{34956ACE-C7FC-57DC-125B-0DFD62FE4AF5}"/>
              </a:ext>
            </a:extLst>
          </p:cNvPr>
          <p:cNvSpPr/>
          <p:nvPr/>
        </p:nvSpPr>
        <p:spPr>
          <a:xfrm>
            <a:off x="9950218"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4" name="Rectangle 3">
            <a:extLst>
              <a:ext uri="{FF2B5EF4-FFF2-40B4-BE49-F238E27FC236}">
                <a16:creationId xmlns:a16="http://schemas.microsoft.com/office/drawing/2014/main" id="{11D4BB30-F07C-F354-99A6-825EC7134CB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Get Tapestry Data from Dashboard &gt; Overview&gt; Tapestry Profile</a:t>
            </a:r>
          </a:p>
        </p:txBody>
      </p:sp>
      <p:sp>
        <p:nvSpPr>
          <p:cNvPr id="7" name="Rectangle 6">
            <a:extLst>
              <a:ext uri="{FF2B5EF4-FFF2-40B4-BE49-F238E27FC236}">
                <a16:creationId xmlns:a16="http://schemas.microsoft.com/office/drawing/2014/main" id="{C27265FA-7C61-24A8-FC2A-7C79A282EAD8}"/>
              </a:ext>
            </a:extLst>
          </p:cNvPr>
          <p:cNvSpPr/>
          <p:nvPr/>
        </p:nvSpPr>
        <p:spPr>
          <a:xfrm>
            <a:off x="186727" y="443779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dirty="0">
                <a:solidFill>
                  <a:srgbClr val="FFFFFF"/>
                </a:solidFill>
                <a:latin typeface="Arial" panose="020B0604020202020204"/>
              </a:rPr>
              <a:t>Replace Tapestry source</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algn="ctr" defTabSz="987527">
              <a:defRPr/>
            </a:pPr>
            <a:r>
              <a:rPr lang="en-US" sz="1944" kern="0" dirty="0">
                <a:solidFill>
                  <a:srgbClr val="FFFFFF"/>
                </a:solidFill>
                <a:latin typeface="Arial" panose="020B0604020202020204"/>
              </a:rPr>
              <a:t>“</a:t>
            </a:r>
            <a:r>
              <a:rPr lang="en-US" sz="2000" i="1" dirty="0">
                <a:solidFill>
                  <a:schemeClr val="bg1"/>
                </a:solidFill>
              </a:rPr>
              <a:t>Source: TruTrade (January 2023 - December 2023); Tapestry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
        <p:nvSpPr>
          <p:cNvPr id="10" name="Slide Number Placeholder 4">
            <a:extLst>
              <a:ext uri="{FF2B5EF4-FFF2-40B4-BE49-F238E27FC236}">
                <a16:creationId xmlns:a16="http://schemas.microsoft.com/office/drawing/2014/main" id="{4A4680B7-71B7-151E-5A9B-753AE4AE45CC}"/>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dirty="0">
              <a:solidFill>
                <a:schemeClr val="bg1"/>
              </a:solidFill>
            </a:endParaRPr>
          </a:p>
        </p:txBody>
      </p:sp>
    </p:spTree>
    <p:extLst>
      <p:ext uri="{BB962C8B-B14F-4D97-AF65-F5344CB8AC3E}">
        <p14:creationId xmlns:p14="http://schemas.microsoft.com/office/powerpoint/2010/main" val="3885044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797629212"/>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algn="l" rtl="0" fontAlgn="ctr"/>
                      <a:endParaRPr lang="en-US" sz="1000" b="1"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3862948622"/>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5" name="Chart 4">
            <a:extLst>
              <a:ext uri="{FF2B5EF4-FFF2-40B4-BE49-F238E27FC236}">
                <a16:creationId xmlns:a16="http://schemas.microsoft.com/office/drawing/2014/main" id="{100FBCBF-F4C7-4C3A-8387-261F4DFF2854}"/>
              </a:ext>
            </a:extLst>
          </p:cNvPr>
          <p:cNvGraphicFramePr>
            <a:graphicFrameLocks/>
          </p:cNvGraphicFramePr>
          <p:nvPr>
            <p:extLst>
              <p:ext uri="{D42A27DB-BD31-4B8C-83A1-F6EECF244321}">
                <p14:modId xmlns:p14="http://schemas.microsoft.com/office/powerpoint/2010/main" val="1375482222"/>
              </p:ext>
            </p:extLst>
          </p:nvPr>
        </p:nvGraphicFramePr>
        <p:xfrm>
          <a:off x="10515600" y="2133600"/>
          <a:ext cx="1746504" cy="479755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Visitor Origin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endParaRPr lang="en-US" sz="1600" dirty="0">
              <a:ea typeface="Roboto"/>
              <a:cs typeface="Roboto"/>
            </a:endParaRP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a:t>…</a:t>
            </a:r>
            <a:endParaRPr lang="en-US" sz="180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Font typeface="Roboto" panose="02000000000000000000" pitchFamily="2" charset="0"/>
              <a:buNone/>
            </a:pPr>
            <a:endParaRPr lang="en-US" sz="1600" dirty="0">
              <a:ea typeface="Roboto"/>
              <a:cs typeface="Roboto"/>
            </a:endParaRP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a:t>
            </a:r>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2935539882"/>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1"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graphicFrame>
        <p:nvGraphicFramePr>
          <p:cNvPr id="9" name="Table 8">
            <a:extLst>
              <a:ext uri="{FF2B5EF4-FFF2-40B4-BE49-F238E27FC236}">
                <a16:creationId xmlns:a16="http://schemas.microsoft.com/office/drawing/2014/main" id="{136B852E-94A0-4604-AE6B-276120BE3DD0}"/>
              </a:ext>
            </a:extLst>
          </p:cNvPr>
          <p:cNvGraphicFramePr>
            <a:graphicFrameLocks noGrp="1"/>
          </p:cNvGraphicFramePr>
          <p:nvPr>
            <p:extLst>
              <p:ext uri="{D42A27DB-BD31-4B8C-83A1-F6EECF244321}">
                <p14:modId xmlns:p14="http://schemas.microsoft.com/office/powerpoint/2010/main" val="2487523613"/>
              </p:ext>
            </p:extLst>
          </p:nvPr>
        </p:nvGraphicFramePr>
        <p:xfrm>
          <a:off x="97357" y="5733348"/>
          <a:ext cx="3200400" cy="1463040"/>
        </p:xfrm>
        <a:graphic>
          <a:graphicData uri="http://schemas.openxmlformats.org/drawingml/2006/table">
            <a:tbl>
              <a:tblPr/>
              <a:tblGrid>
                <a:gridCol w="2000250">
                  <a:extLst>
                    <a:ext uri="{9D8B030D-6E8A-4147-A177-3AD203B41FA5}">
                      <a16:colId xmlns:a16="http://schemas.microsoft.com/office/drawing/2014/main" val="419740395"/>
                    </a:ext>
                  </a:extLst>
                </a:gridCol>
                <a:gridCol w="1200150">
                  <a:extLst>
                    <a:ext uri="{9D8B030D-6E8A-4147-A177-3AD203B41FA5}">
                      <a16:colId xmlns:a16="http://schemas.microsoft.com/office/drawing/2014/main" val="722599399"/>
                    </a:ext>
                  </a:extLst>
                </a:gridCol>
              </a:tblGrid>
              <a:tr h="365760">
                <a:tc>
                  <a:txBody>
                    <a:bodyPr/>
                    <a:lstStyle/>
                    <a:p>
                      <a:pPr algn="l" rtl="0" fontAlgn="b"/>
                      <a:r>
                        <a:rPr lang="en-US" sz="1100" b="0" i="0" u="none" strike="noStrike" dirty="0">
                          <a:solidFill>
                            <a:srgbClr val="FFFFFF"/>
                          </a:solidFill>
                          <a:effectLst/>
                          <a:latin typeface="+mn-lt"/>
                        </a:rPr>
                        <a:t>Number of Zones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r>
                        <a:rPr lang="en-US" sz="1100" b="1" i="0" u="none" strike="noStrike" dirty="0">
                          <a:solidFill>
                            <a:srgbClr val="000000"/>
                          </a:solidFill>
                          <a:effectLst/>
                          <a:latin typeface="Aptos Narrow" panose="020B0004020202020204" pitchFamily="34" charset="0"/>
                        </a:rPr>
                        <a:t>One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1"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r>
                        <a:rPr lang="en-US" sz="1100" b="1" i="0" u="none" strike="noStrike" dirty="0">
                          <a:solidFill>
                            <a:srgbClr val="000000"/>
                          </a:solidFill>
                          <a:effectLst/>
                          <a:latin typeface="Aptos Narrow" panose="020B0004020202020204" pitchFamily="34" charset="0"/>
                        </a:rPr>
                        <a:t>Two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1"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3411548676"/>
                  </a:ext>
                </a:extLst>
              </a:tr>
              <a:tr h="182880">
                <a:tc>
                  <a:txBody>
                    <a:bodyPr/>
                    <a:lstStyle/>
                    <a:p>
                      <a:pPr algn="l" fontAlgn="b"/>
                      <a:r>
                        <a:rPr lang="en-US" sz="1100" b="1" i="0" u="none" strike="noStrike">
                          <a:solidFill>
                            <a:srgbClr val="000000"/>
                          </a:solidFill>
                          <a:effectLst/>
                          <a:latin typeface="Aptos Narrow" panose="020B0004020202020204" pitchFamily="34" charset="0"/>
                        </a:rPr>
                        <a:t>Three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1" i="0" u="none" strike="noStrike">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822866025"/>
                  </a:ext>
                </a:extLst>
              </a:tr>
              <a:tr h="182880">
                <a:tc>
                  <a:txBody>
                    <a:bodyPr/>
                    <a:lstStyle/>
                    <a:p>
                      <a:pPr algn="l" fontAlgn="b"/>
                      <a:r>
                        <a:rPr lang="en-US" sz="1100" b="0" i="0" u="none" strike="noStrike">
                          <a:solidFill>
                            <a:srgbClr val="000000"/>
                          </a:solidFill>
                          <a:effectLst/>
                          <a:latin typeface="Aptos Narrow" panose="020B0004020202020204" pitchFamily="34" charset="0"/>
                        </a:rPr>
                        <a:t>Four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r>
                        <a:rPr lang="en-US" sz="1100" b="0" i="0" u="none" strike="noStrike" dirty="0">
                          <a:solidFill>
                            <a:srgbClr val="000000"/>
                          </a:solidFill>
                          <a:effectLst/>
                          <a:latin typeface="Aptos Narrow" panose="020B0004020202020204" pitchFamily="34" charset="0"/>
                        </a:rPr>
                        <a:t>Five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r>
                        <a:rPr lang="en-US" sz="1100" b="0" i="0" u="none" strike="noStrike">
                          <a:solidFill>
                            <a:srgbClr val="000000"/>
                          </a:solidFill>
                          <a:effectLst/>
                          <a:latin typeface="Aptos Narrow" panose="020B0004020202020204" pitchFamily="34" charset="0"/>
                        </a:rPr>
                        <a:t>Six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959429516"/>
                  </a:ext>
                </a:extLst>
              </a:tr>
            </a:tbl>
          </a:graphicData>
        </a:graphic>
      </p:graphicFrame>
      <p:graphicFrame>
        <p:nvGraphicFramePr>
          <p:cNvPr id="10" name="Table 9">
            <a:extLst>
              <a:ext uri="{FF2B5EF4-FFF2-40B4-BE49-F238E27FC236}">
                <a16:creationId xmlns:a16="http://schemas.microsoft.com/office/drawing/2014/main" id="{8ADB5E94-C64F-42A6-BA5F-BD483FD34A3A}"/>
              </a:ext>
            </a:extLst>
          </p:cNvPr>
          <p:cNvGraphicFramePr>
            <a:graphicFrameLocks noGrp="1"/>
          </p:cNvGraphicFramePr>
          <p:nvPr>
            <p:extLst>
              <p:ext uri="{D42A27DB-BD31-4B8C-83A1-F6EECF244321}">
                <p14:modId xmlns:p14="http://schemas.microsoft.com/office/powerpoint/2010/main" val="381996512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ontent Placeholder 15">
            <a:extLst>
              <a:ext uri="{FF2B5EF4-FFF2-40B4-BE49-F238E27FC236}">
                <a16:creationId xmlns:a16="http://schemas.microsoft.com/office/drawing/2014/main" id="{58FABEEE-6FD8-4304-A995-E1C46FEDE815}"/>
              </a:ext>
            </a:extLst>
          </p:cNvPr>
          <p:cNvGraphicFramePr>
            <a:graphicFrameLocks noGrp="1"/>
          </p:cNvGraphicFramePr>
          <p:nvPr>
            <p:ph idx="11"/>
            <p:extLst>
              <p:ext uri="{D42A27DB-BD31-4B8C-83A1-F6EECF244321}">
                <p14:modId xmlns:p14="http://schemas.microsoft.com/office/powerpoint/2010/main" val="2166503404"/>
              </p:ext>
            </p:extLst>
          </p:nvPr>
        </p:nvGraphicFramePr>
        <p:xfrm>
          <a:off x="739775" y="2146323"/>
          <a:ext cx="5486400" cy="4483076"/>
        </p:xfrm>
        <a:graphic>
          <a:graphicData uri="http://schemas.openxmlformats.org/drawingml/2006/chart">
            <c:chart xmlns:c="http://schemas.openxmlformats.org/drawingml/2006/chart" xmlns:r="http://schemas.openxmlformats.org/officeDocument/2006/relationships" r:id="rId3"/>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3C4E012-E9D4-C32E-72BD-98FCA1D561FD}"/>
              </a:ext>
            </a:extLst>
          </p:cNvPr>
          <p:cNvSpPr/>
          <p:nvPr/>
        </p:nvSpPr>
        <p:spPr>
          <a:xfrm>
            <a:off x="3627122" y="19327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“Duration” tab and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pPr marL="0" indent="0">
              <a:buNone/>
            </a:pPr>
            <a:r>
              <a:rPr lang="en-US" sz="800" i="1" dirty="0">
                <a:solidFill>
                  <a:srgbClr val="7F7F7F"/>
                </a:solidFill>
              </a:rPr>
              <a:t>Source: </a:t>
            </a:r>
            <a:r>
              <a:rPr lang="en-US" sz="800" i="1" dirty="0" err="1">
                <a:solidFill>
                  <a:srgbClr val="7F7F7F"/>
                </a:solidFill>
              </a:rPr>
              <a:t>TruTrade</a:t>
            </a:r>
            <a:r>
              <a:rPr lang="en-US" sz="800" i="1" dirty="0">
                <a:solidFill>
                  <a:srgbClr val="7F7F7F"/>
                </a:solidFill>
              </a:rPr>
              <a:t> (FY2023 vs FY2024)</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44.9%</a:t>
            </a:r>
            <a:endParaRPr lang="en-US" sz="180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36.9%</a:t>
            </a:r>
            <a:endParaRPr lang="en-US" sz="180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4057615800"/>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1214896333"/>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a:solidFill>
                            <a:srgbClr val="000000"/>
                          </a:solidFill>
                          <a:effectLst/>
                          <a:latin typeface="Calibri" panose="020F0502020204030204" pitchFamily="34" charset="0"/>
                        </a:rPr>
                        <a:t>78739, Austin, TX (19.8%)</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(6.7%)</a:t>
                      </a: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(4.5%)</a:t>
                      </a: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(3.2%)</a:t>
                      </a: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lang="en-US" sz="1100" b="0" i="0" u="none" strike="noStrike">
                          <a:solidFill>
                            <a:srgbClr val="000000"/>
                          </a:solidFill>
                          <a:effectLst/>
                          <a:latin typeface="Calibri" panose="020F0502020204030204" pitchFamily="34" charset="0"/>
                        </a:rPr>
                        <a:t>78737, Austin, TX (2.6%)</a:t>
                      </a: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726741995"/>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a:solidFill>
                            <a:srgbClr val="000000"/>
                          </a:solidFill>
                          <a:effectLst/>
                          <a:latin typeface="Calibri" panose="020F0502020204030204" pitchFamily="34" charset="0"/>
                        </a:rPr>
                        <a:t>78739, Austin, TX (25.4%)</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(6.8%)</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(5.4%)</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(4.3%)</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a:solidFill>
                            <a:srgbClr val="000000"/>
                          </a:solidFill>
                          <a:effectLst/>
                          <a:latin typeface="Calibri" panose="020F0502020204030204" pitchFamily="34" charset="0"/>
                        </a:rPr>
                        <a:t>78641, Leander, TX (3.0%)</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3246331" y="4389120"/>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TruInsight</a:t>
            </a:r>
            <a:r>
              <a:rPr lang="en-US" baseline="30000"/>
              <a:t>™</a:t>
            </a:r>
            <a:r>
              <a:rPr lang="en-US"/>
              <a:t> – Visitor Digital Interests</a:t>
            </a:r>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pic>
        <p:nvPicPr>
          <p:cNvPr id="7" name="Picture 2" descr="An Inside Look: Tanger Outlets - One Photoshoot - A Season Worth Of Assets!  - infinitee">
            <a:extLst>
              <a:ext uri="{FF2B5EF4-FFF2-40B4-BE49-F238E27FC236}">
                <a16:creationId xmlns:a16="http://schemas.microsoft.com/office/drawing/2014/main" id="{7D8AE012-8CAD-4684-8551-E663400DA636}"/>
              </a:ext>
            </a:extLst>
          </p:cNvPr>
          <p:cNvPicPr preferRelativeResize="0">
            <a:picLocks noChangeArrowheads="1"/>
          </p:cNvPicPr>
          <p:nvPr/>
        </p:nvPicPr>
        <p:blipFill rotWithShape="1">
          <a:blip r:embed="rId3">
            <a:extLst>
              <a:ext uri="{28A0092B-C50C-407E-A947-70E740481C1C}">
                <a14:useLocalDpi xmlns:a14="http://schemas.microsoft.com/office/drawing/2010/main" val="0"/>
              </a:ext>
            </a:extLst>
          </a:blip>
          <a:srcRect l="12255" r="12255" b="24510"/>
          <a:stretch/>
        </p:blipFill>
        <p:spPr bwMode="auto">
          <a:xfrm>
            <a:off x="0" y="0"/>
            <a:ext cx="12801600" cy="5843016"/>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996A255-077A-3887-0A14-DF42A3F2677B}"/>
              </a:ext>
            </a:extLst>
          </p:cNvPr>
          <p:cNvSpPr/>
          <p:nvPr/>
        </p:nvSpPr>
        <p:spPr>
          <a:xfrm>
            <a:off x="4477215" y="3128845"/>
            <a:ext cx="8324385" cy="2795239"/>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client already received a Visitor Engagement report, then SKIP the TI section because that was included in that previous report</a:t>
            </a:r>
          </a:p>
        </p:txBody>
      </p:sp>
      <p:sp>
        <p:nvSpPr>
          <p:cNvPr id="4" name="Rectangle 3">
            <a:extLst>
              <a:ext uri="{FF2B5EF4-FFF2-40B4-BE49-F238E27FC236}">
                <a16:creationId xmlns:a16="http://schemas.microsoft.com/office/drawing/2014/main" id="{EA859220-890B-7CF5-D6DF-3E908C864F04}"/>
              </a:ext>
            </a:extLst>
          </p:cNvPr>
          <p:cNvSpPr/>
          <p:nvPr/>
        </p:nvSpPr>
        <p:spPr>
          <a:xfrm>
            <a:off x="-1221059" y="304800"/>
            <a:ext cx="3505200" cy="6705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The following TI intro slides need to appear in any report that includes TI data for client context. Please be sure to have these in each template that includes TI (Destination &amp; Shopping Centers)</a:t>
            </a:r>
          </a:p>
        </p:txBody>
      </p:sp>
    </p:spTree>
    <p:extLst>
      <p:ext uri="{BB962C8B-B14F-4D97-AF65-F5344CB8AC3E}">
        <p14:creationId xmlns:p14="http://schemas.microsoft.com/office/powerpoint/2010/main" val="128828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150882" y="6527945"/>
            <a:ext cx="1443010" cy="1113316"/>
          </a:xfrm>
          <a:custGeom>
            <a:avLst/>
            <a:gdLst/>
            <a:ahLst/>
            <a:cxnLst/>
            <a:rect l="l" t="t" r="r" b="b"/>
            <a:pathLst>
              <a:path w="1443010" h="1113316">
                <a:moveTo>
                  <a:pt x="0" y="0"/>
                </a:moveTo>
                <a:lnTo>
                  <a:pt x="1443010" y="0"/>
                </a:lnTo>
                <a:lnTo>
                  <a:pt x="1443010" y="1113315"/>
                </a:lnTo>
                <a:lnTo>
                  <a:pt x="0" y="1113315"/>
                </a:lnTo>
                <a:lnTo>
                  <a:pt x="0" y="0"/>
                </a:lnTo>
                <a:close/>
              </a:path>
            </a:pathLst>
          </a:custGeom>
          <a:blipFill>
            <a:blip r:embed="rId2"/>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8" name="AutoShape 8"/>
          <p:cNvSpPr/>
          <p:nvPr/>
        </p:nvSpPr>
        <p:spPr>
          <a:xfrm>
            <a:off x="733425" y="3295676"/>
            <a:ext cx="0" cy="1181049"/>
          </a:xfrm>
          <a:prstGeom prst="line">
            <a:avLst/>
          </a:prstGeom>
          <a:ln w="28575" cap="flat">
            <a:solidFill>
              <a:srgbClr val="FFFFFF"/>
            </a:solidFill>
            <a:prstDash val="solid"/>
            <a:headEnd type="none" w="sm" len="sm"/>
            <a:tailEnd type="none" w="sm" len="sm"/>
          </a:ln>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0" name="Freeform 10"/>
          <p:cNvSpPr/>
          <p:nvPr/>
        </p:nvSpPr>
        <p:spPr>
          <a:xfrm>
            <a:off x="-1" y="0"/>
            <a:ext cx="3927367" cy="7295518"/>
          </a:xfrm>
          <a:custGeom>
            <a:avLst/>
            <a:gdLst/>
            <a:ahLst/>
            <a:cxnLst/>
            <a:rect l="l" t="t" r="r" b="b"/>
            <a:pathLst>
              <a:path w="4475818" h="7394344">
                <a:moveTo>
                  <a:pt x="0" y="0"/>
                </a:moveTo>
                <a:lnTo>
                  <a:pt x="4475818" y="0"/>
                </a:lnTo>
                <a:lnTo>
                  <a:pt x="4475818" y="7394344"/>
                </a:lnTo>
                <a:lnTo>
                  <a:pt x="0" y="7394344"/>
                </a:lnTo>
                <a:lnTo>
                  <a:pt x="0" y="0"/>
                </a:lnTo>
                <a:close/>
              </a:path>
            </a:pathLst>
          </a:custGeom>
          <a:blipFill>
            <a:blip r:embed="rId3"/>
            <a:stretch>
              <a:fillRect l="-37017" t="-5281" r="4" b="-5093"/>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1" name="TextBox 11"/>
          <p:cNvSpPr txBox="1"/>
          <p:nvPr/>
        </p:nvSpPr>
        <p:spPr>
          <a:xfrm>
            <a:off x="5189751" y="2487729"/>
            <a:ext cx="6911130" cy="2759710"/>
          </a:xfrm>
          <a:prstGeom prst="rect">
            <a:avLst/>
          </a:prstGeom>
        </p:spPr>
        <p:txBody>
          <a:bodyPr lIns="0" tIns="0" rIns="0" bIns="0" rtlCol="0" anchor="t">
            <a:spAutoFit/>
          </a:bodyPr>
          <a:lstStyle/>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a:ea typeface="+mn-ea"/>
                <a:cs typeface="+mn-cs"/>
              </a:rPr>
              <a:t>Digital and social media have become powerful sources of influence and attention for consumers today. ​</a:t>
            </a:r>
          </a:p>
          <a:p>
            <a:pPr marL="0" marR="0" lvl="0" indent="0" algn="l" defTabSz="1175644" rtl="0" eaLnBrk="1" fontAlgn="auto" latinLnBrk="0" hangingPunct="1">
              <a:lnSpc>
                <a:spcPts val="2419"/>
              </a:lnSpc>
              <a:spcBef>
                <a:spcPts val="0"/>
              </a:spcBef>
              <a:spcAft>
                <a:spcPts val="0"/>
              </a:spcAft>
              <a:buClrTx/>
              <a:buSzTx/>
              <a:buFontTx/>
              <a:buNone/>
              <a:tabLst/>
              <a:defRPr/>
            </a:pPr>
            <a:endParaRPr kumimoji="0" lang="en-US" sz="1999" b="0" i="0" u="none" strike="noStrike" kern="1200" cap="none" spc="0" normalizeH="0" baseline="0" noProof="0">
              <a:ln>
                <a:noFill/>
              </a:ln>
              <a:solidFill>
                <a:srgbClr val="273E6C"/>
              </a:solidFill>
              <a:effectLst/>
              <a:uLnTx/>
              <a:uFillTx/>
              <a:latin typeface="Roboto"/>
              <a:ea typeface="+mn-ea"/>
              <a:cs typeface="+mn-cs"/>
            </a:endParaRPr>
          </a:p>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a:ea typeface="+mn-ea"/>
                <a:cs typeface="+mn-cs"/>
              </a:rPr>
              <a:t>The average American spends </a:t>
            </a:r>
            <a:r>
              <a:rPr kumimoji="0" lang="en-US" sz="1999" b="0" i="0" u="none" strike="noStrike" kern="1200" cap="none" spc="0" normalizeH="0" baseline="0" noProof="0">
                <a:ln>
                  <a:noFill/>
                </a:ln>
                <a:solidFill>
                  <a:srgbClr val="273E6C"/>
                </a:solidFill>
                <a:effectLst/>
                <a:uLnTx/>
                <a:uFillTx/>
                <a:latin typeface="Roboto Bold"/>
                <a:ea typeface="+mn-ea"/>
                <a:cs typeface="+mn-cs"/>
              </a:rPr>
              <a:t>2 hours</a:t>
            </a:r>
            <a:r>
              <a:rPr kumimoji="0" lang="en-US" sz="1999" b="0" i="0" u="none" strike="noStrike" kern="1200" cap="none" spc="0" normalizeH="0" baseline="0" noProof="0">
                <a:ln>
                  <a:noFill/>
                </a:ln>
                <a:solidFill>
                  <a:srgbClr val="273E6C"/>
                </a:solidFill>
                <a:effectLst/>
                <a:uLnTx/>
                <a:uFillTx/>
                <a:latin typeface="Roboto"/>
                <a:ea typeface="+mn-ea"/>
                <a:cs typeface="+mn-cs"/>
              </a:rPr>
              <a:t> and </a:t>
            </a:r>
            <a:r>
              <a:rPr kumimoji="0" lang="en-US" sz="1999" b="0" i="0" u="none" strike="noStrike" kern="1200" cap="none" spc="0" normalizeH="0" baseline="0" noProof="0">
                <a:ln>
                  <a:noFill/>
                </a:ln>
                <a:solidFill>
                  <a:srgbClr val="273E6C"/>
                </a:solidFill>
                <a:effectLst/>
                <a:uLnTx/>
                <a:uFillTx/>
                <a:latin typeface="Roboto Bold"/>
                <a:ea typeface="+mn-ea"/>
                <a:cs typeface="+mn-cs"/>
              </a:rPr>
              <a:t>14 minutes </a:t>
            </a:r>
            <a:r>
              <a:rPr kumimoji="0" lang="en-US" sz="1999" b="0" i="0" u="none" strike="noStrike" kern="1200" cap="none" spc="0" normalizeH="0" baseline="0" noProof="0">
                <a:ln>
                  <a:noFill/>
                </a:ln>
                <a:solidFill>
                  <a:srgbClr val="273E6C"/>
                </a:solidFill>
                <a:effectLst/>
                <a:uLnTx/>
                <a:uFillTx/>
                <a:latin typeface="Roboto"/>
                <a:ea typeface="+mn-ea"/>
                <a:cs typeface="+mn-cs"/>
              </a:rPr>
              <a:t>on social media every day.​</a:t>
            </a:r>
          </a:p>
          <a:p>
            <a:pPr marL="0" marR="0" lvl="0" indent="0" algn="l" defTabSz="1175644" rtl="0" eaLnBrk="1" fontAlgn="auto" latinLnBrk="0" hangingPunct="1">
              <a:lnSpc>
                <a:spcPts val="2419"/>
              </a:lnSpc>
              <a:spcBef>
                <a:spcPts val="0"/>
              </a:spcBef>
              <a:spcAft>
                <a:spcPts val="0"/>
              </a:spcAft>
              <a:buClrTx/>
              <a:buSzTx/>
              <a:buFontTx/>
              <a:buNone/>
              <a:tabLst/>
              <a:defRPr/>
            </a:pPr>
            <a:endParaRPr kumimoji="0" lang="en-US" sz="1999" b="0" i="0" u="none" strike="noStrike" kern="1200" cap="none" spc="0" normalizeH="0" baseline="0" noProof="0">
              <a:ln>
                <a:noFill/>
              </a:ln>
              <a:solidFill>
                <a:srgbClr val="273E6C"/>
              </a:solidFill>
              <a:effectLst/>
              <a:uLnTx/>
              <a:uFillTx/>
              <a:latin typeface="Roboto"/>
              <a:ea typeface="+mn-ea"/>
              <a:cs typeface="+mn-cs"/>
            </a:endParaRPr>
          </a:p>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Bold"/>
                <a:ea typeface="+mn-ea"/>
                <a:cs typeface="+mn-cs"/>
              </a:rPr>
              <a:t>46% </a:t>
            </a:r>
            <a:r>
              <a:rPr kumimoji="0" lang="en-US" sz="1999" b="0" i="0" u="none" strike="noStrike" kern="1200" cap="none" spc="0" normalizeH="0" baseline="0" noProof="0">
                <a:ln>
                  <a:noFill/>
                </a:ln>
                <a:solidFill>
                  <a:srgbClr val="273E6C"/>
                </a:solidFill>
                <a:effectLst/>
                <a:uLnTx/>
                <a:uFillTx/>
                <a:latin typeface="Roboto"/>
                <a:ea typeface="+mn-ea"/>
                <a:cs typeface="+mn-cs"/>
              </a:rPr>
              <a:t>of Americans say they watch more </a:t>
            </a:r>
            <a:r>
              <a:rPr kumimoji="0" lang="en-US" sz="1999" b="0" i="0" u="none" strike="noStrike" kern="1200" cap="none" spc="0" normalizeH="0" baseline="0" noProof="0">
                <a:ln>
                  <a:noFill/>
                </a:ln>
                <a:solidFill>
                  <a:srgbClr val="273E6C"/>
                </a:solidFill>
                <a:effectLst/>
                <a:uLnTx/>
                <a:uFillTx/>
                <a:latin typeface="Roboto Bold"/>
                <a:ea typeface="+mn-ea"/>
                <a:cs typeface="+mn-cs"/>
              </a:rPr>
              <a:t>user-generated content</a:t>
            </a:r>
            <a:r>
              <a:rPr kumimoji="0" lang="en-US" sz="1999" b="0" i="0" u="none" strike="noStrike" kern="1200" cap="none" spc="0" normalizeH="0" baseline="0" noProof="0">
                <a:ln>
                  <a:noFill/>
                </a:ln>
                <a:solidFill>
                  <a:srgbClr val="273E6C"/>
                </a:solidFill>
                <a:effectLst/>
                <a:uLnTx/>
                <a:uFillTx/>
                <a:latin typeface="Roboto"/>
                <a:ea typeface="+mn-ea"/>
                <a:cs typeface="+mn-cs"/>
              </a:rPr>
              <a:t> on social media than they watch movies and television on streaming services. ​</a:t>
            </a:r>
          </a:p>
        </p:txBody>
      </p:sp>
      <p:sp>
        <p:nvSpPr>
          <p:cNvPr id="12" name="Freeform 12"/>
          <p:cNvSpPr/>
          <p:nvPr/>
        </p:nvSpPr>
        <p:spPr>
          <a:xfrm>
            <a:off x="4477438" y="2521182"/>
            <a:ext cx="504516" cy="504516"/>
          </a:xfrm>
          <a:custGeom>
            <a:avLst/>
            <a:gdLst/>
            <a:ahLst/>
            <a:cxnLst/>
            <a:rect l="l" t="t" r="r" b="b"/>
            <a:pathLst>
              <a:path w="504516" h="504516">
                <a:moveTo>
                  <a:pt x="0" y="0"/>
                </a:moveTo>
                <a:lnTo>
                  <a:pt x="504515" y="0"/>
                </a:lnTo>
                <a:lnTo>
                  <a:pt x="504515" y="504516"/>
                </a:lnTo>
                <a:lnTo>
                  <a:pt x="0" y="50451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3" name="Freeform 13"/>
          <p:cNvSpPr/>
          <p:nvPr/>
        </p:nvSpPr>
        <p:spPr>
          <a:xfrm>
            <a:off x="4477438" y="3388600"/>
            <a:ext cx="518318" cy="518318"/>
          </a:xfrm>
          <a:custGeom>
            <a:avLst/>
            <a:gdLst/>
            <a:ahLst/>
            <a:cxnLst/>
            <a:rect l="l" t="t" r="r" b="b"/>
            <a:pathLst>
              <a:path w="518318" h="518318">
                <a:moveTo>
                  <a:pt x="0" y="0"/>
                </a:moveTo>
                <a:lnTo>
                  <a:pt x="518318" y="0"/>
                </a:lnTo>
                <a:lnTo>
                  <a:pt x="518318" y="518318"/>
                </a:lnTo>
                <a:lnTo>
                  <a:pt x="0" y="51831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4" name="Freeform 14"/>
          <p:cNvSpPr/>
          <p:nvPr/>
        </p:nvSpPr>
        <p:spPr>
          <a:xfrm>
            <a:off x="4491240" y="4476725"/>
            <a:ext cx="504516" cy="504516"/>
          </a:xfrm>
          <a:custGeom>
            <a:avLst/>
            <a:gdLst/>
            <a:ahLst/>
            <a:cxnLst/>
            <a:rect l="l" t="t" r="r" b="b"/>
            <a:pathLst>
              <a:path w="504516" h="504516">
                <a:moveTo>
                  <a:pt x="0" y="0"/>
                </a:moveTo>
                <a:lnTo>
                  <a:pt x="504515" y="0"/>
                </a:lnTo>
                <a:lnTo>
                  <a:pt x="504515" y="504516"/>
                </a:lnTo>
                <a:lnTo>
                  <a:pt x="0" y="50451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3" name="Slide Number Placeholder 4">
            <a:extLst>
              <a:ext uri="{FF2B5EF4-FFF2-40B4-BE49-F238E27FC236}">
                <a16:creationId xmlns:a16="http://schemas.microsoft.com/office/drawing/2014/main" id="{1FC723A4-552D-1656-80DE-81877702F081}"/>
              </a:ext>
            </a:extLst>
          </p:cNvPr>
          <p:cNvSpPr>
            <a:spLocks noGrp="1"/>
          </p:cNvSpPr>
          <p:nvPr>
            <p:ph type="sldNum" sz="quarter" idx="4"/>
          </p:nvPr>
        </p:nvSpPr>
        <p:spPr>
          <a:xfrm>
            <a:off x="11887200" y="7400925"/>
            <a:ext cx="914400" cy="228600"/>
          </a:xfrm>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4" name="Rectangle 3">
            <a:extLst>
              <a:ext uri="{FF2B5EF4-FFF2-40B4-BE49-F238E27FC236}">
                <a16:creationId xmlns:a16="http://schemas.microsoft.com/office/drawing/2014/main" id="{5D1FBAEE-94CA-23E9-17B7-D75B26D425F5}"/>
              </a:ext>
            </a:extLst>
          </p:cNvPr>
          <p:cNvSpPr/>
          <p:nvPr/>
        </p:nvSpPr>
        <p:spPr>
          <a:xfrm>
            <a:off x="228600" y="304800"/>
            <a:ext cx="3505200" cy="6705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Museum themed image, or client-specific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46D3B64-D824-4CE1-B0F6-66889C2FC8DA}"/>
              </a:ext>
            </a:extLst>
          </p:cNvPr>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5" name="Subtitle 4">
            <a:extLst>
              <a:ext uri="{FF2B5EF4-FFF2-40B4-BE49-F238E27FC236}">
                <a16:creationId xmlns:a16="http://schemas.microsoft.com/office/drawing/2014/main" id="{D6BD8858-6523-4B39-A154-86CDDF1914F3}"/>
              </a:ext>
            </a:extLst>
          </p:cNvPr>
          <p:cNvSpPr>
            <a:spLocks noGrp="1"/>
          </p:cNvSpPr>
          <p:nvPr>
            <p:ph type="subTitle" idx="10"/>
          </p:nvPr>
        </p:nvSpPr>
        <p:spPr/>
        <p:txBody>
          <a:bodyPr/>
          <a:lstStyle/>
          <a:p>
            <a:endParaRPr lang="en-US"/>
          </a:p>
        </p:txBody>
      </p:sp>
      <p:sp>
        <p:nvSpPr>
          <p:cNvPr id="6" name="Content Placeholder 5">
            <a:extLst>
              <a:ext uri="{FF2B5EF4-FFF2-40B4-BE49-F238E27FC236}">
                <a16:creationId xmlns:a16="http://schemas.microsoft.com/office/drawing/2014/main" id="{97D4D8E8-F725-4417-B3F7-CADDD2043CD0}"/>
              </a:ext>
            </a:extLst>
          </p:cNvPr>
          <p:cNvSpPr>
            <a:spLocks noGrp="1"/>
          </p:cNvSpPr>
          <p:nvPr>
            <p:ph idx="11"/>
          </p:nvPr>
        </p:nvSpPr>
        <p:spPr>
          <a:xfrm>
            <a:off x="836340" y="1849989"/>
            <a:ext cx="11226120" cy="5373726"/>
          </a:xfrm>
        </p:spPr>
        <p:txBody>
          <a:bodyPr vert="horz" lIns="117564" tIns="58782" rIns="117564" bIns="58782" rtlCol="0" anchor="t">
            <a:noAutofit/>
          </a:bodyPr>
          <a:lstStyle/>
          <a:p>
            <a:pPr marL="0" indent="0">
              <a:buNone/>
            </a:pPr>
            <a:r>
              <a:rPr lang="en-US" sz="1800" dirty="0"/>
              <a:t>This report is designed to identify </a:t>
            </a:r>
            <a:r>
              <a:rPr lang="en-US" sz="1800" i="1" dirty="0"/>
              <a:t>Interests, Influencers, and Media</a:t>
            </a:r>
            <a:r>
              <a:rPr lang="en-US" sz="1800" dirty="0"/>
              <a:t> with which your visitors demonstrate a recent </a:t>
            </a:r>
            <a:r>
              <a:rPr lang="en-US" sz="1800" i="1" dirty="0"/>
              <a:t>positive </a:t>
            </a:r>
            <a:r>
              <a:rPr lang="en-US" sz="1800" dirty="0"/>
              <a:t>sentiment on social media and online platforms. </a:t>
            </a:r>
            <a:r>
              <a:rPr lang="en-US" sz="1800" b="1" dirty="0"/>
              <a:t>This data provides comprehensive, detailed insights into what they are engaging with each day—on average for 2+ hours a day.</a:t>
            </a:r>
          </a:p>
          <a:p>
            <a:pPr marL="0" indent="0">
              <a:buNone/>
            </a:pPr>
            <a:endParaRPr lang="en-US" sz="1800" dirty="0"/>
          </a:p>
          <a:p>
            <a:pPr>
              <a:spcAft>
                <a:spcPts val="600"/>
              </a:spcAft>
            </a:pPr>
            <a:r>
              <a:rPr lang="en-US" sz="1800" dirty="0"/>
              <a:t>Brands, Media and Interests are identified based on monitored digital consumer behavior.  </a:t>
            </a:r>
          </a:p>
          <a:p>
            <a:pPr>
              <a:spcAft>
                <a:spcPts val="600"/>
              </a:spcAft>
            </a:pPr>
            <a:r>
              <a:rPr lang="en-US" sz="1800" dirty="0"/>
              <a:t>To be included, a consumer must be engaged with the brand – that is: following and positively engaging with that brand’s handle.  </a:t>
            </a:r>
          </a:p>
          <a:p>
            <a:pPr>
              <a:spcAft>
                <a:spcPts val="600"/>
              </a:spcAft>
            </a:pPr>
            <a:r>
              <a:rPr lang="en-US" sz="1800" dirty="0"/>
              <a:t>They must be mentioning, tweeting and showing positive sentiment for the brand within the past three months on channels including YouTube, Pinterest, Twitter, Instagram, etc.</a:t>
            </a:r>
          </a:p>
          <a:p>
            <a:pPr>
              <a:spcAft>
                <a:spcPts val="600"/>
              </a:spcAft>
            </a:pPr>
            <a:r>
              <a:rPr lang="en-US" sz="1800" dirty="0"/>
              <a:t>Interests are categorized based on Internet Advertising Bureau categories.  </a:t>
            </a:r>
          </a:p>
          <a:p>
            <a:r>
              <a:rPr lang="en-US" sz="1800" dirty="0"/>
              <a:t>These categories are intended to help digital agencies place advertising that will resonate/align with an audiences’ key interests.</a:t>
            </a:r>
          </a:p>
          <a:p>
            <a:endParaRPr lang="en-US" sz="1800" dirty="0"/>
          </a:p>
          <a:p>
            <a:endParaRPr lang="en-US" sz="1800" dirty="0"/>
          </a:p>
          <a:p>
            <a:pPr marL="0" indent="0">
              <a:buNone/>
            </a:pPr>
            <a:endParaRPr lang="en-US" sz="1800" dirty="0"/>
          </a:p>
        </p:txBody>
      </p:sp>
      <p:sp>
        <p:nvSpPr>
          <p:cNvPr id="9" name="Rectangle 8">
            <a:extLst>
              <a:ext uri="{FF2B5EF4-FFF2-40B4-BE49-F238E27FC236}">
                <a16:creationId xmlns:a16="http://schemas.microsoft.com/office/drawing/2014/main" id="{8693C94D-6BDC-DC6C-1388-7252AAA89351}"/>
              </a:ext>
            </a:extLst>
          </p:cNvPr>
          <p:cNvSpPr/>
          <p:nvPr/>
        </p:nvSpPr>
        <p:spPr>
          <a:xfrm>
            <a:off x="836340" y="548684"/>
            <a:ext cx="3666212" cy="81339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are interests of this audience to inform our exhibits and programs?</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
        <p:nvSpPr>
          <p:cNvPr id="10" name="Rectangle 9">
            <a:extLst>
              <a:ext uri="{FF2B5EF4-FFF2-40B4-BE49-F238E27FC236}">
                <a16:creationId xmlns:a16="http://schemas.microsoft.com/office/drawing/2014/main" id="{7FA80F72-09B2-C3A6-4D94-CDD93EC4CFDE}"/>
              </a:ext>
            </a:extLst>
          </p:cNvPr>
          <p:cNvSpPr/>
          <p:nvPr/>
        </p:nvSpPr>
        <p:spPr>
          <a:xfrm>
            <a:off x="4653774" y="548685"/>
            <a:ext cx="3645275" cy="8133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media will best reach this audience?</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
        <p:nvSpPr>
          <p:cNvPr id="11" name="Rectangle 10">
            <a:extLst>
              <a:ext uri="{FF2B5EF4-FFF2-40B4-BE49-F238E27FC236}">
                <a16:creationId xmlns:a16="http://schemas.microsoft.com/office/drawing/2014/main" id="{A47241BD-4B74-B02F-5C64-8B65CB7D6AFB}"/>
              </a:ext>
            </a:extLst>
          </p:cNvPr>
          <p:cNvSpPr/>
          <p:nvPr/>
        </p:nvSpPr>
        <p:spPr>
          <a:xfrm>
            <a:off x="8450270" y="548685"/>
            <a:ext cx="3436929" cy="8065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promotions or sponsorships will most resonate with this audience?</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Tree>
    <p:extLst>
      <p:ext uri="{BB962C8B-B14F-4D97-AF65-F5344CB8AC3E}">
        <p14:creationId xmlns:p14="http://schemas.microsoft.com/office/powerpoint/2010/main" val="25057004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5EBAC5-A5FE-AFEA-2D3A-281A88ABDE2B}"/>
              </a:ext>
            </a:extLst>
          </p:cNvPr>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3" name="Subtitle 2">
            <a:extLst>
              <a:ext uri="{FF2B5EF4-FFF2-40B4-BE49-F238E27FC236}">
                <a16:creationId xmlns:a16="http://schemas.microsoft.com/office/drawing/2014/main" id="{B120A36C-02F7-45AA-E81C-275B16FCCF10}"/>
              </a:ext>
            </a:extLst>
          </p:cNvPr>
          <p:cNvSpPr>
            <a:spLocks noGrp="1"/>
          </p:cNvSpPr>
          <p:nvPr>
            <p:ph type="subTitle" idx="10"/>
          </p:nvPr>
        </p:nvSpPr>
        <p:spPr/>
        <p:txBody>
          <a:bodyPr/>
          <a:lstStyle/>
          <a:p>
            <a:endParaRPr lang="en-US"/>
          </a:p>
        </p:txBody>
      </p:sp>
      <p:sp>
        <p:nvSpPr>
          <p:cNvPr id="4" name="Title 3">
            <a:extLst>
              <a:ext uri="{FF2B5EF4-FFF2-40B4-BE49-F238E27FC236}">
                <a16:creationId xmlns:a16="http://schemas.microsoft.com/office/drawing/2014/main" id="{8BA6B160-47EC-9933-0964-342697B0C229}"/>
              </a:ext>
            </a:extLst>
          </p:cNvPr>
          <p:cNvSpPr>
            <a:spLocks noGrp="1"/>
          </p:cNvSpPr>
          <p:nvPr>
            <p:ph type="title"/>
          </p:nvPr>
        </p:nvSpPr>
        <p:spPr/>
        <p:txBody>
          <a:bodyPr/>
          <a:lstStyle/>
          <a:p>
            <a:r>
              <a:rPr lang="en-US" b="0" dirty="0">
                <a:solidFill>
                  <a:schemeClr val="accent5">
                    <a:lumMod val="10000"/>
                  </a:schemeClr>
                </a:solidFill>
                <a:latin typeface="+mn-lt"/>
              </a:rPr>
              <a:t>The</a:t>
            </a:r>
            <a:r>
              <a:rPr lang="en-US" sz="2800" b="0" dirty="0">
                <a:solidFill>
                  <a:schemeClr val="accent5">
                    <a:lumMod val="10000"/>
                  </a:schemeClr>
                </a:solidFill>
                <a:latin typeface="+mn-lt"/>
              </a:rPr>
              <a:t> [</a:t>
            </a:r>
            <a:r>
              <a:rPr lang="en-US" b="0" dirty="0">
                <a:solidFill>
                  <a:schemeClr val="accent5">
                    <a:lumMod val="10000"/>
                  </a:schemeClr>
                </a:solidFill>
                <a:latin typeface="+mn-lt"/>
              </a:rPr>
              <a:t>audience] </a:t>
            </a:r>
            <a:r>
              <a:rPr lang="en-US" sz="2800" b="0" dirty="0">
                <a:solidFill>
                  <a:schemeClr val="accent5">
                    <a:lumMod val="10000"/>
                  </a:schemeClr>
                </a:solidFill>
                <a:latin typeface="+mn-lt"/>
              </a:rPr>
              <a:t>profile and [</a:t>
            </a:r>
            <a:r>
              <a:rPr lang="en-US" b="0" dirty="0">
                <a:solidFill>
                  <a:schemeClr val="accent5">
                    <a:lumMod val="10000"/>
                  </a:schemeClr>
                </a:solidFill>
                <a:latin typeface="+mn-lt"/>
              </a:rPr>
              <a:t>audience] </a:t>
            </a:r>
            <a:r>
              <a:rPr lang="en-US" sz="2800" b="0" dirty="0">
                <a:solidFill>
                  <a:schemeClr val="accent5">
                    <a:lumMod val="10000"/>
                  </a:schemeClr>
                </a:solidFill>
                <a:latin typeface="+mn-lt"/>
              </a:rPr>
              <a:t>profile are provided to identify more targeted opportunities</a:t>
            </a:r>
            <a:br>
              <a:rPr lang="en-US" sz="2800" dirty="0">
                <a:ea typeface="Roboto"/>
                <a:cs typeface="Roboto"/>
              </a:rPr>
            </a:br>
            <a:endParaRPr lang="en-US" dirty="0"/>
          </a:p>
        </p:txBody>
      </p:sp>
      <p:sp>
        <p:nvSpPr>
          <p:cNvPr id="6" name="Content Placeholder 5">
            <a:extLst>
              <a:ext uri="{FF2B5EF4-FFF2-40B4-BE49-F238E27FC236}">
                <a16:creationId xmlns:a16="http://schemas.microsoft.com/office/drawing/2014/main" id="{66A3E39C-91A0-BED4-2D3C-01AA9A8DD38D}"/>
              </a:ext>
            </a:extLst>
          </p:cNvPr>
          <p:cNvSpPr>
            <a:spLocks noGrp="1"/>
          </p:cNvSpPr>
          <p:nvPr>
            <p:ph idx="12"/>
          </p:nvPr>
        </p:nvSpPr>
        <p:spPr>
          <a:xfrm>
            <a:off x="7183120" y="1678287"/>
            <a:ext cx="4887446" cy="3114885"/>
          </a:xfrm>
        </p:spPr>
        <p:txBody>
          <a:bodyPr/>
          <a:lstStyle/>
          <a:p>
            <a:pPr marL="0" indent="0" algn="ctr">
              <a:buNone/>
            </a:pPr>
            <a:r>
              <a:rPr lang="en-US" b="1" dirty="0"/>
              <a:t>[Name] Audience</a:t>
            </a:r>
          </a:p>
          <a:p>
            <a:pPr marL="0" indent="0">
              <a:buNone/>
            </a:pPr>
            <a:endParaRPr lang="en-US" b="1" dirty="0"/>
          </a:p>
          <a:p>
            <a:r>
              <a:rPr lang="en-US" sz="1400" dirty="0"/>
              <a:t>An audience of “[name]” consumers was built among the 1.2B profiles based on their engagement with a set of luxury brands and products.  </a:t>
            </a:r>
          </a:p>
          <a:p>
            <a:endParaRPr lang="en-US" sz="1400" dirty="0"/>
          </a:p>
          <a:p>
            <a:r>
              <a:rPr lang="en-US" sz="1400" dirty="0"/>
              <a:t>[Type] were then matched to the [category] audience as a separate audience in TruInsight.</a:t>
            </a:r>
          </a:p>
          <a:p>
            <a:endParaRPr lang="en-US" sz="1400" dirty="0"/>
          </a:p>
          <a:p>
            <a:r>
              <a:rPr lang="en-US" sz="1400" dirty="0"/>
              <a:t>The Luxury visitor audience may be used in place of the general audience when working with luxury and aspirational retailers.</a:t>
            </a:r>
          </a:p>
        </p:txBody>
      </p:sp>
      <p:pic>
        <p:nvPicPr>
          <p:cNvPr id="13" name="Picture 12" descr="A group of people sitting on a bench&#10;&#10;Description automatically generated with medium confidence">
            <a:extLst>
              <a:ext uri="{FF2B5EF4-FFF2-40B4-BE49-F238E27FC236}">
                <a16:creationId xmlns:a16="http://schemas.microsoft.com/office/drawing/2014/main" id="{FD220767-9B6B-6A46-1CAB-579B69AE0044}"/>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1587" b="16956"/>
          <a:stretch/>
        </p:blipFill>
        <p:spPr>
          <a:xfrm>
            <a:off x="963295" y="4970381"/>
            <a:ext cx="4299585" cy="1951553"/>
          </a:xfrm>
          <a:prstGeom prst="rect">
            <a:avLst/>
          </a:prstGeom>
        </p:spPr>
      </p:pic>
      <p:pic>
        <p:nvPicPr>
          <p:cNvPr id="14" name="Picture 4" descr="Post-circuit breaker, shopping at Dior, Chanel and more won't be the same">
            <a:extLst>
              <a:ext uri="{FF2B5EF4-FFF2-40B4-BE49-F238E27FC236}">
                <a16:creationId xmlns:a16="http://schemas.microsoft.com/office/drawing/2014/main" id="{F874EABC-8406-7439-AE19-FE8A938DA93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703" t="16464" b="21830"/>
          <a:stretch/>
        </p:blipFill>
        <p:spPr bwMode="auto">
          <a:xfrm>
            <a:off x="7293585" y="4970381"/>
            <a:ext cx="4299585" cy="1963819"/>
          </a:xfrm>
          <a:prstGeom prst="rect">
            <a:avLst/>
          </a:prstGeom>
          <a:noFill/>
          <a:extLst>
            <a:ext uri="{909E8E84-426E-40DD-AFC4-6F175D3DCCD1}">
              <a14:hiddenFill xmlns:a14="http://schemas.microsoft.com/office/drawing/2010/main">
                <a:solidFill>
                  <a:srgbClr val="FFFFFF"/>
                </a:solidFill>
              </a14:hiddenFill>
            </a:ext>
          </a:extLst>
        </p:spPr>
      </p:pic>
      <p:sp>
        <p:nvSpPr>
          <p:cNvPr id="18" name="Content Placeholder 5">
            <a:extLst>
              <a:ext uri="{FF2B5EF4-FFF2-40B4-BE49-F238E27FC236}">
                <a16:creationId xmlns:a16="http://schemas.microsoft.com/office/drawing/2014/main" id="{7527D34B-69DF-C2DF-2872-132FE4B64218}"/>
              </a:ext>
            </a:extLst>
          </p:cNvPr>
          <p:cNvSpPr txBox="1">
            <a:spLocks/>
          </p:cNvSpPr>
          <p:nvPr/>
        </p:nvSpPr>
        <p:spPr>
          <a:xfrm>
            <a:off x="858644" y="1749122"/>
            <a:ext cx="4583151" cy="3044050"/>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None/>
              <a:tabLst/>
              <a:defRPr/>
            </a:pPr>
            <a:r>
              <a:rPr kumimoji="0" lang="en-US" sz="2000" b="1" i="0" u="none" strike="noStrike" kern="1200" cap="none" spc="0" normalizeH="0" baseline="0" noProof="0" dirty="0">
                <a:ln>
                  <a:noFill/>
                </a:ln>
                <a:solidFill>
                  <a:srgbClr val="273E6D">
                    <a:lumMod val="50000"/>
                  </a:srgbClr>
                </a:solidFill>
                <a:effectLst/>
                <a:uLnTx/>
                <a:uFillTx/>
                <a:latin typeface="Roboto"/>
                <a:ea typeface="+mn-ea"/>
                <a:cs typeface="+mn-cs"/>
              </a:rPr>
              <a:t>[Name] Audience</a:t>
            </a:r>
          </a:p>
          <a:p>
            <a:pPr marL="0" marR="0" lvl="0" indent="0"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None/>
              <a:tabLst/>
              <a:defRPr/>
            </a:pPr>
            <a:endParaRPr kumimoji="0" lang="en-US" sz="1400" b="1"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Mobile Device ID’s of visitors that were seen at your location between June 2022 and May 2023 were matched to online behaviors for 1.2B US consumer profiles.  </a:t>
            </a: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endPar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The [Name] Audience shows the top brands and attributes with which [type] are most engaged.</a:t>
            </a: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endPar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The All visitor profile may be used in planning marketing messages, media mix, leasing prospects and more.</a:t>
            </a:r>
            <a:endParaRPr kumimoji="0" lang="en-US" sz="2000" b="0" i="0" u="none" strike="noStrike" kern="1200" cap="none" spc="0" normalizeH="0" baseline="0" noProof="0" dirty="0">
              <a:ln>
                <a:noFill/>
              </a:ln>
              <a:solidFill>
                <a:srgbClr val="273E6D">
                  <a:lumMod val="50000"/>
                </a:srgbClr>
              </a:solidFill>
              <a:effectLst/>
              <a:uLnTx/>
              <a:uFillTx/>
              <a:latin typeface="Roboto"/>
              <a:ea typeface="+mn-ea"/>
              <a:cs typeface="+mn-cs"/>
            </a:endParaRPr>
          </a:p>
        </p:txBody>
      </p:sp>
      <p:sp>
        <p:nvSpPr>
          <p:cNvPr id="7" name="Rectangle 6">
            <a:extLst>
              <a:ext uri="{FF2B5EF4-FFF2-40B4-BE49-F238E27FC236}">
                <a16:creationId xmlns:a16="http://schemas.microsoft.com/office/drawing/2014/main" id="{222DADA4-DE30-3E16-9EB5-392790E4CE26}"/>
              </a:ext>
            </a:extLst>
          </p:cNvPr>
          <p:cNvSpPr/>
          <p:nvPr/>
        </p:nvSpPr>
        <p:spPr>
          <a:xfrm>
            <a:off x="1208430" y="5296971"/>
            <a:ext cx="3505200" cy="1371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a:t>
            </a:r>
            <a:r>
              <a:rPr lang="en-US" dirty="0" err="1"/>
              <a:t>Musuem</a:t>
            </a:r>
            <a:r>
              <a:rPr lang="en-US" dirty="0"/>
              <a:t> themed image, or client-specific</a:t>
            </a:r>
          </a:p>
        </p:txBody>
      </p:sp>
      <p:sp>
        <p:nvSpPr>
          <p:cNvPr id="8" name="Rectangle 7">
            <a:extLst>
              <a:ext uri="{FF2B5EF4-FFF2-40B4-BE49-F238E27FC236}">
                <a16:creationId xmlns:a16="http://schemas.microsoft.com/office/drawing/2014/main" id="{975395AF-AD9F-46A8-84A4-833CB56479E1}"/>
              </a:ext>
            </a:extLst>
          </p:cNvPr>
          <p:cNvSpPr/>
          <p:nvPr/>
        </p:nvSpPr>
        <p:spPr>
          <a:xfrm>
            <a:off x="7690777" y="5385391"/>
            <a:ext cx="3505200" cy="1371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a:t>
            </a:r>
            <a:r>
              <a:rPr lang="en-US" dirty="0" err="1"/>
              <a:t>Musuem</a:t>
            </a:r>
            <a:r>
              <a:rPr lang="en-US" dirty="0"/>
              <a:t> themed image, or client-specific</a:t>
            </a:r>
          </a:p>
        </p:txBody>
      </p:sp>
      <p:sp>
        <p:nvSpPr>
          <p:cNvPr id="9" name="Rectangle 8">
            <a:extLst>
              <a:ext uri="{FF2B5EF4-FFF2-40B4-BE49-F238E27FC236}">
                <a16:creationId xmlns:a16="http://schemas.microsoft.com/office/drawing/2014/main" id="{C05C858F-349D-D34D-5736-8E2DF3D07438}"/>
              </a:ext>
            </a:extLst>
          </p:cNvPr>
          <p:cNvSpPr/>
          <p:nvPr/>
        </p:nvSpPr>
        <p:spPr>
          <a:xfrm>
            <a:off x="1480515" y="2633854"/>
            <a:ext cx="2961030" cy="15240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Customized to client</a:t>
            </a:r>
          </a:p>
        </p:txBody>
      </p:sp>
      <p:sp>
        <p:nvSpPr>
          <p:cNvPr id="10" name="Rectangle 9">
            <a:extLst>
              <a:ext uri="{FF2B5EF4-FFF2-40B4-BE49-F238E27FC236}">
                <a16:creationId xmlns:a16="http://schemas.microsoft.com/office/drawing/2014/main" id="{11C3CBA3-5C1E-9C54-FEE9-74DBB275D2D3}"/>
              </a:ext>
            </a:extLst>
          </p:cNvPr>
          <p:cNvSpPr/>
          <p:nvPr/>
        </p:nvSpPr>
        <p:spPr>
          <a:xfrm>
            <a:off x="8146328" y="2651930"/>
            <a:ext cx="2961030" cy="15240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Customized to client</a:t>
            </a:r>
          </a:p>
        </p:txBody>
      </p:sp>
    </p:spTree>
    <p:extLst>
      <p:ext uri="{BB962C8B-B14F-4D97-AF65-F5344CB8AC3E}">
        <p14:creationId xmlns:p14="http://schemas.microsoft.com/office/powerpoint/2010/main" val="12895645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30</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a:xfrm>
            <a:off x="1313186" y="311256"/>
            <a:ext cx="10749274" cy="1295400"/>
          </a:xfrm>
        </p:spPr>
        <p:txBody>
          <a:bodyPr>
            <a:noAutofit/>
          </a:bodyPr>
          <a:lstStyle/>
          <a:p>
            <a:r>
              <a:rPr lang="en-US" sz="2400" dirty="0"/>
              <a:t>XXXXX Email Audience</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a:xfrm>
            <a:off x="731034" y="6781800"/>
            <a:ext cx="11331426" cy="441916"/>
          </a:xfrm>
        </p:spPr>
        <p:txBody>
          <a:bodyPr>
            <a:noAutofit/>
          </a:bodyPr>
          <a:lstStyle/>
          <a:p>
            <a:r>
              <a:rPr lang="en-US" sz="1200" i="1"/>
              <a:t>Source: TruInsight. Interests and mediums are listed in top ten audience size order from most-to-least visitor interest. Use these interests and mediums to inform new business development, specialty partnerships and digital marketing initiatives. </a:t>
            </a:r>
          </a:p>
          <a:p>
            <a:endParaRPr lang="en-US" sz="1200" i="1"/>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807434576"/>
              </p:ext>
            </p:extLst>
          </p:nvPr>
        </p:nvGraphicFramePr>
        <p:xfrm>
          <a:off x="1313186" y="1676400"/>
          <a:ext cx="10177272" cy="4587240"/>
        </p:xfrm>
        <a:graphic>
          <a:graphicData uri="http://schemas.openxmlformats.org/drawingml/2006/table">
            <a:tbl>
              <a:tblPr/>
              <a:tblGrid>
                <a:gridCol w="1453896">
                  <a:extLst>
                    <a:ext uri="{9D8B030D-6E8A-4147-A177-3AD203B41FA5}">
                      <a16:colId xmlns:a16="http://schemas.microsoft.com/office/drawing/2014/main" val="2191543679"/>
                    </a:ext>
                  </a:extLst>
                </a:gridCol>
                <a:gridCol w="1453896">
                  <a:extLst>
                    <a:ext uri="{9D8B030D-6E8A-4147-A177-3AD203B41FA5}">
                      <a16:colId xmlns:a16="http://schemas.microsoft.com/office/drawing/2014/main" val="2780414962"/>
                    </a:ext>
                  </a:extLst>
                </a:gridCol>
                <a:gridCol w="1453896">
                  <a:extLst>
                    <a:ext uri="{9D8B030D-6E8A-4147-A177-3AD203B41FA5}">
                      <a16:colId xmlns:a16="http://schemas.microsoft.com/office/drawing/2014/main" val="1210954487"/>
                    </a:ext>
                  </a:extLst>
                </a:gridCol>
                <a:gridCol w="1453896">
                  <a:extLst>
                    <a:ext uri="{9D8B030D-6E8A-4147-A177-3AD203B41FA5}">
                      <a16:colId xmlns:a16="http://schemas.microsoft.com/office/drawing/2014/main" val="2506130395"/>
                    </a:ext>
                  </a:extLst>
                </a:gridCol>
                <a:gridCol w="1453896">
                  <a:extLst>
                    <a:ext uri="{9D8B030D-6E8A-4147-A177-3AD203B41FA5}">
                      <a16:colId xmlns:a16="http://schemas.microsoft.com/office/drawing/2014/main" val="2835030562"/>
                    </a:ext>
                  </a:extLst>
                </a:gridCol>
                <a:gridCol w="1453896">
                  <a:extLst>
                    <a:ext uri="{9D8B030D-6E8A-4147-A177-3AD203B41FA5}">
                      <a16:colId xmlns:a16="http://schemas.microsoft.com/office/drawing/2014/main" val="996222065"/>
                    </a:ext>
                  </a:extLst>
                </a:gridCol>
                <a:gridCol w="1453896">
                  <a:extLst>
                    <a:ext uri="{9D8B030D-6E8A-4147-A177-3AD203B41FA5}">
                      <a16:colId xmlns:a16="http://schemas.microsoft.com/office/drawing/2014/main" val="371451461"/>
                    </a:ext>
                  </a:extLst>
                </a:gridCol>
              </a:tblGrid>
              <a:tr h="457200">
                <a:tc gridSpan="7">
                  <a:txBody>
                    <a:bodyPr/>
                    <a:lstStyle/>
                    <a:p>
                      <a:pPr algn="ctr" fontAlgn="b"/>
                      <a:r>
                        <a:rPr lang="en-US" sz="2000" b="1" i="0" u="none" strike="noStrike">
                          <a:solidFill>
                            <a:srgbClr val="FFFFFF"/>
                          </a:solidFill>
                          <a:effectLst/>
                          <a:latin typeface="+mn-lt"/>
                        </a:rPr>
                        <a:t>TOP INTERESTS – MEDIA - INFLUENCERS</a:t>
                      </a: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l" fontAlgn="b"/>
                      <a:endParaRPr lang="en-US" sz="900" b="1" i="0" u="none" strike="noStrike">
                        <a:solidFill>
                          <a:srgbClr val="FFFFFF"/>
                        </a:solidFill>
                        <a:effectLst/>
                        <a:latin typeface="+mn-lt"/>
                      </a:endParaRP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l" fontAlgn="b"/>
                      <a:endParaRPr lang="en-US" sz="900" b="1" i="0" u="none" strike="noStrike">
                        <a:solidFill>
                          <a:srgbClr val="FFFFFF"/>
                        </a:solidFill>
                        <a:effectLst/>
                        <a:latin typeface="+mn-lt"/>
                      </a:endParaRP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61744329"/>
                  </a:ext>
                </a:extLst>
              </a:tr>
              <a:tr h="457200">
                <a:tc>
                  <a:txBody>
                    <a:bodyPr/>
                    <a:lstStyle/>
                    <a:p>
                      <a:pPr algn="ctr" fontAlgn="b"/>
                      <a:r>
                        <a:rPr lang="en-US" sz="900" b="1" i="0" u="none" strike="noStrike">
                          <a:solidFill>
                            <a:srgbClr val="FFFFFF"/>
                          </a:solidFill>
                          <a:effectLst/>
                          <a:latin typeface="+mn-lt"/>
                        </a:rPr>
                        <a:t>INTEREST</a:t>
                      </a:r>
                    </a:p>
                    <a:p>
                      <a:pPr algn="ctr" fontAlgn="b"/>
                      <a:r>
                        <a:rPr lang="en-US" sz="900" b="1" i="0" u="none" strike="noStrike">
                          <a:solidFill>
                            <a:srgbClr val="FFFFFF"/>
                          </a:solidFill>
                          <a:effectLst/>
                          <a:latin typeface="+mn-lt"/>
                        </a:rPr>
                        <a:t>(Overall)</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NEWSPAPERS</a:t>
                      </a:r>
                    </a:p>
                    <a:p>
                      <a:pPr algn="ctr" fontAlgn="b"/>
                      <a:r>
                        <a:rPr lang="en-US" sz="900" b="1" i="0" u="none" strike="noStrike">
                          <a:solidFill>
                            <a:srgbClr val="FFFFFF"/>
                          </a:solidFill>
                          <a:effectLst/>
                          <a:latin typeface="+mn-lt"/>
                        </a:rPr>
                        <a:t>(All)</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MAGAZINES</a:t>
                      </a:r>
                    </a:p>
                    <a:p>
                      <a:pPr algn="ctr" fontAlgn="b"/>
                      <a:r>
                        <a:rPr lang="en-US" sz="900" b="1" i="0" u="none" strike="noStrike">
                          <a:solidFill>
                            <a:srgbClr val="FFFFFF"/>
                          </a:solidFill>
                          <a:effectLst/>
                          <a:latin typeface="+mn-lt"/>
                        </a:rPr>
                        <a:t>(Lifestyle)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MAGAZINES</a:t>
                      </a:r>
                    </a:p>
                    <a:p>
                      <a:pPr algn="ctr" fontAlgn="b"/>
                      <a:r>
                        <a:rPr lang="en-US" sz="900" b="1" i="0" u="none" strike="noStrike">
                          <a:solidFill>
                            <a:srgbClr val="FFFFFF"/>
                          </a:solidFill>
                          <a:effectLst/>
                          <a:latin typeface="+mn-lt"/>
                        </a:rPr>
                        <a:t>(Fashion)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PODCASTS</a:t>
                      </a:r>
                    </a:p>
                    <a:p>
                      <a:pPr algn="ctr" fontAlgn="b"/>
                      <a:r>
                        <a:rPr lang="en-US" sz="900" b="1" i="0" u="none" strike="noStrike">
                          <a:solidFill>
                            <a:srgbClr val="FFFFFF"/>
                          </a:solidFill>
                          <a:effectLst/>
                          <a:latin typeface="+mn-lt"/>
                        </a:rPr>
                        <a:t>(All)</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INFLUENCERS</a:t>
                      </a:r>
                    </a:p>
                    <a:p>
                      <a:pPr algn="ctr" fontAlgn="b"/>
                      <a:r>
                        <a:rPr lang="en-US" sz="900" b="1" i="0" u="none" strike="noStrike">
                          <a:solidFill>
                            <a:srgbClr val="FFFFFF"/>
                          </a:solidFill>
                          <a:effectLst/>
                          <a:latin typeface="+mn-lt"/>
                        </a:rPr>
                        <a:t>(Fashion)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INFLUENCERS</a:t>
                      </a:r>
                    </a:p>
                    <a:p>
                      <a:pPr algn="ctr" fontAlgn="b"/>
                      <a:r>
                        <a:rPr lang="en-US" sz="900" b="1" i="0" u="none" strike="noStrike">
                          <a:solidFill>
                            <a:srgbClr val="FFFFFF"/>
                          </a:solidFill>
                          <a:effectLst/>
                          <a:latin typeface="+mn-lt"/>
                        </a:rPr>
                        <a:t>(Home &amp; Garden)</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Sports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New York Times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Bon Appetit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Vogue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Society &amp; Culture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Christine Teigen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Martha Stewart</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Arts And Entertainment</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Austin American-Statesman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Bon AppÃ©tit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Vanity Fair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Comedy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Kim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Joanna Gaines</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Music</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Texas Tribune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Martha Stewart Living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Melania Trump</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Grace Bonney</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Hobbies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Wall Street Journal</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National Geographic Traveler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Instyle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Sports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Khloe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Chip Gaines</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B2b</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Washington Post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Food Network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Wallpaper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Business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Kourtney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Epic Gardening</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38100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Guardian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Dwell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Elle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Music</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Judd Apatow</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Bri Emery</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Family And Parenting</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Texas Observer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Real Simple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Arts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Kendall Jenner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Elsie Larson</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Style And Fashion</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Usa Today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Food &amp; Wine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Nylon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Tv &amp; Film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Kylie Jenner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Drew Scott - Actor</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Science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Los Angeles Times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Conde Nast Traveler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Glamour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Politics/Government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Leandra Medine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Jonathan Scott</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Politics / Advocacy</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Financial Times (Uk)</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Travel + Leisure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Marie Claire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Health &amp; Fitness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Camille Styles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Clint Harp</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bl>
          </a:graphicData>
        </a:graphic>
      </p:graphicFrame>
      <p:sp>
        <p:nvSpPr>
          <p:cNvPr id="2" name="Rectangle 1">
            <a:extLst>
              <a:ext uri="{FF2B5EF4-FFF2-40B4-BE49-F238E27FC236}">
                <a16:creationId xmlns:a16="http://schemas.microsoft.com/office/drawing/2014/main" id="{B30D4D63-E8FE-3DD3-2688-99375214AD8A}"/>
              </a:ext>
            </a:extLst>
          </p:cNvPr>
          <p:cNvSpPr/>
          <p:nvPr/>
        </p:nvSpPr>
        <p:spPr>
          <a:xfrm>
            <a:off x="2057400" y="2000306"/>
            <a:ext cx="10464807" cy="4319223"/>
          </a:xfrm>
          <a:prstGeom prst="rect">
            <a:avLst/>
          </a:prstGeom>
          <a:solidFill>
            <a:srgbClr val="E28AC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Where to find audience details (set scaled audience from largest to smallest) –</a:t>
            </a:r>
          </a:p>
          <a:p>
            <a:pPr algn="ctr"/>
            <a:endParaRPr lang="en-US"/>
          </a:p>
          <a:p>
            <a:r>
              <a:rPr lang="en-US"/>
              <a:t>Interest: interests</a:t>
            </a:r>
          </a:p>
          <a:p>
            <a:r>
              <a:rPr lang="en-US"/>
              <a:t>Newspapers: media &gt; print media &gt; newspapers</a:t>
            </a:r>
          </a:p>
          <a:p>
            <a:r>
              <a:rPr lang="en-US"/>
              <a:t>Magazines (lifestyle): media &gt; print media &gt; magazines &gt; lifestyle</a:t>
            </a:r>
          </a:p>
          <a:p>
            <a:r>
              <a:rPr lang="en-US"/>
              <a:t>Magazines (fashion): media &gt; print media &gt; magazines &gt; fashion</a:t>
            </a:r>
          </a:p>
          <a:p>
            <a:r>
              <a:rPr lang="en-US"/>
              <a:t>Podcasts: media &gt; podcasts</a:t>
            </a:r>
          </a:p>
          <a:p>
            <a:r>
              <a:rPr lang="en-US"/>
              <a:t>Influencers (fashion): influencers &gt; fashion / beauty</a:t>
            </a:r>
          </a:p>
          <a:p>
            <a:r>
              <a:rPr lang="en-US"/>
              <a:t>Influencers (home): influencers &gt; home and garden</a:t>
            </a:r>
          </a:p>
        </p:txBody>
      </p:sp>
    </p:spTree>
    <p:extLst>
      <p:ext uri="{BB962C8B-B14F-4D97-AF65-F5344CB8AC3E}">
        <p14:creationId xmlns:p14="http://schemas.microsoft.com/office/powerpoint/2010/main" val="2587879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a:xfrm>
            <a:off x="1313186" y="311256"/>
            <a:ext cx="10749274" cy="1295400"/>
          </a:xfrm>
        </p:spPr>
        <p:txBody>
          <a:bodyPr>
            <a:noAutofit/>
          </a:bodyPr>
          <a:lstStyle/>
          <a:p>
            <a:r>
              <a:rPr lang="en-US" sz="2400" dirty="0"/>
              <a:t>XXXXX Email Audience</a:t>
            </a:r>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814227394"/>
              </p:ext>
            </p:extLst>
          </p:nvPr>
        </p:nvGraphicFramePr>
        <p:xfrm>
          <a:off x="1313186" y="1676400"/>
          <a:ext cx="10177272" cy="4572000"/>
        </p:xfrm>
        <a:graphic>
          <a:graphicData uri="http://schemas.openxmlformats.org/drawingml/2006/table">
            <a:tbl>
              <a:tblPr/>
              <a:tblGrid>
                <a:gridCol w="1272159">
                  <a:extLst>
                    <a:ext uri="{9D8B030D-6E8A-4147-A177-3AD203B41FA5}">
                      <a16:colId xmlns:a16="http://schemas.microsoft.com/office/drawing/2014/main" val="2191543679"/>
                    </a:ext>
                  </a:extLst>
                </a:gridCol>
                <a:gridCol w="1272159">
                  <a:extLst>
                    <a:ext uri="{9D8B030D-6E8A-4147-A177-3AD203B41FA5}">
                      <a16:colId xmlns:a16="http://schemas.microsoft.com/office/drawing/2014/main" val="2780414962"/>
                    </a:ext>
                  </a:extLst>
                </a:gridCol>
                <a:gridCol w="1272159">
                  <a:extLst>
                    <a:ext uri="{9D8B030D-6E8A-4147-A177-3AD203B41FA5}">
                      <a16:colId xmlns:a16="http://schemas.microsoft.com/office/drawing/2014/main" val="1210954487"/>
                    </a:ext>
                  </a:extLst>
                </a:gridCol>
                <a:gridCol w="1272159">
                  <a:extLst>
                    <a:ext uri="{9D8B030D-6E8A-4147-A177-3AD203B41FA5}">
                      <a16:colId xmlns:a16="http://schemas.microsoft.com/office/drawing/2014/main" val="2506130395"/>
                    </a:ext>
                  </a:extLst>
                </a:gridCol>
                <a:gridCol w="1272159">
                  <a:extLst>
                    <a:ext uri="{9D8B030D-6E8A-4147-A177-3AD203B41FA5}">
                      <a16:colId xmlns:a16="http://schemas.microsoft.com/office/drawing/2014/main" val="2835030562"/>
                    </a:ext>
                  </a:extLst>
                </a:gridCol>
                <a:gridCol w="1272159">
                  <a:extLst>
                    <a:ext uri="{9D8B030D-6E8A-4147-A177-3AD203B41FA5}">
                      <a16:colId xmlns:a16="http://schemas.microsoft.com/office/drawing/2014/main" val="3142722229"/>
                    </a:ext>
                  </a:extLst>
                </a:gridCol>
                <a:gridCol w="1272159">
                  <a:extLst>
                    <a:ext uri="{9D8B030D-6E8A-4147-A177-3AD203B41FA5}">
                      <a16:colId xmlns:a16="http://schemas.microsoft.com/office/drawing/2014/main" val="1842552652"/>
                    </a:ext>
                  </a:extLst>
                </a:gridCol>
                <a:gridCol w="1272159">
                  <a:extLst>
                    <a:ext uri="{9D8B030D-6E8A-4147-A177-3AD203B41FA5}">
                      <a16:colId xmlns:a16="http://schemas.microsoft.com/office/drawing/2014/main" val="996222065"/>
                    </a:ext>
                  </a:extLst>
                </a:gridCol>
              </a:tblGrid>
              <a:tr h="457200">
                <a:tc gridSpan="8">
                  <a:txBody>
                    <a:bodyPr/>
                    <a:lstStyle/>
                    <a:p>
                      <a:pPr algn="ctr" fontAlgn="b"/>
                      <a:r>
                        <a:rPr lang="en-US" sz="2000" b="1" i="0" u="none" strike="noStrike">
                          <a:solidFill>
                            <a:srgbClr val="FFFFFF"/>
                          </a:solidFill>
                          <a:effectLst/>
                          <a:latin typeface="+mn-lt"/>
                        </a:rPr>
                        <a:t>TOP BRANDS BASED ON INTEREST</a:t>
                      </a: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61744329"/>
                  </a:ext>
                </a:extLst>
              </a:tr>
              <a:tr h="457200">
                <a:tc>
                  <a:txBody>
                    <a:bodyPr/>
                    <a:lstStyle/>
                    <a:p>
                      <a:pPr algn="ctr" fontAlgn="b"/>
                      <a:r>
                        <a:rPr lang="en-US" sz="900" b="1" i="0" u="none" strike="noStrike">
                          <a:solidFill>
                            <a:srgbClr val="FFFFFF"/>
                          </a:solidFill>
                          <a:effectLst/>
                          <a:latin typeface="+mn-lt"/>
                        </a:rPr>
                        <a:t>SHOES AND FOOTWEAR BRANDS</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APPAREL BRANDS</a:t>
                      </a:r>
                    </a:p>
                    <a:p>
                      <a:pPr algn="ctr" fontAlgn="b"/>
                      <a:r>
                        <a:rPr lang="en-US" sz="900" b="1" i="0" u="none" strike="noStrike">
                          <a:solidFill>
                            <a:srgbClr val="FFFFFF"/>
                          </a:solidFill>
                          <a:effectLst/>
                          <a:latin typeface="+mn-lt"/>
                        </a:rPr>
                        <a:t>(Designer)</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CONSUMER ELECTRONIC BRANDS</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BEAUTY BRANDS </a:t>
                      </a:r>
                    </a:p>
                    <a:p>
                      <a:pPr algn="ctr" fontAlgn="b"/>
                      <a:r>
                        <a:rPr lang="en-US" sz="900" b="1" i="0" u="none" strike="noStrike">
                          <a:solidFill>
                            <a:srgbClr val="FFFFFF"/>
                          </a:solidFill>
                          <a:effectLst/>
                          <a:latin typeface="+mn-lt"/>
                        </a:rPr>
                        <a:t>(Cosmetics)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SPORTING GOODS BRANDS</a:t>
                      </a:r>
                    </a:p>
                    <a:p>
                      <a:pPr algn="ctr" fontAlgn="b"/>
                      <a:r>
                        <a:rPr lang="en-US" sz="900" b="1" i="0" u="none" strike="noStrike">
                          <a:solidFill>
                            <a:srgbClr val="FFFFFF"/>
                          </a:solidFill>
                          <a:effectLst/>
                          <a:latin typeface="+mn-lt"/>
                        </a:rPr>
                        <a:t>(Sportwear)</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HOME FURNISHINGS BRANDS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JEWELRY </a:t>
                      </a:r>
                    </a:p>
                    <a:p>
                      <a:pPr algn="ctr" fontAlgn="b"/>
                      <a:r>
                        <a:rPr lang="en-US" sz="900" b="1" i="0" u="none" strike="noStrike">
                          <a:solidFill>
                            <a:srgbClr val="FFFFFF"/>
                          </a:solidFill>
                          <a:effectLst/>
                          <a:latin typeface="+mn-lt"/>
                        </a:rPr>
                        <a:t>BRANDS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RESTAURANTS / DINING CATEGORIES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Nike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Kate Spade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Best Buy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Sephora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Patagonia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West Elm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Kendra Scott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Fast Food</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Toms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Chanel</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Newegg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Chanel Beauty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Lululemon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Apartment Therapy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Catbird</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Coffee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Zappos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Michael Kors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Gamestop</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Glossier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Outdoor Voices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Home Building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Tiffany &amp; Co</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Dessert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Adidas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Burberry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err="1">
                          <a:solidFill>
                            <a:schemeClr val="bg2">
                              <a:lumMod val="10000"/>
                            </a:schemeClr>
                          </a:solidFill>
                          <a:effectLst/>
                          <a:latin typeface="Roboto" panose="02000000000000000000" pitchFamily="2" charset="0"/>
                          <a:ea typeface="+mn-ea"/>
                          <a:cs typeface="+mn-cs"/>
                        </a:rPr>
                        <a:t>Radioshack</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Essie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North Face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Williams-Sonoma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Rolex</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Bbq</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North Face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Christian Louboutin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Apple Store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Benefit Cosmetics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Under Armour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Pottery Barn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Vrai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Family Restaurant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Burberry</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Marc Jacobs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Smarthome Shopping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Lush</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Athleta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One Kings Lane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Alex And Ani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Pizza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Sjp By Sarah Jessica Parker</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Christian </a:t>
                      </a:r>
                      <a:r>
                        <a:rPr lang="en-US" sz="900" b="0" i="0" u="none" strike="noStrike" kern="1200" err="1">
                          <a:solidFill>
                            <a:schemeClr val="bg2">
                              <a:lumMod val="10000"/>
                            </a:schemeClr>
                          </a:solidFill>
                          <a:effectLst/>
                          <a:latin typeface="Roboto" panose="02000000000000000000" pitchFamily="2" charset="0"/>
                          <a:ea typeface="+mn-ea"/>
                          <a:cs typeface="+mn-cs"/>
                        </a:rPr>
                        <a:t>Siriano</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Bobbi Brown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Alo Yoga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Home Goods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Baublebar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Juice/Salad Bars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Alexander Mcqueen</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H&amp;M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Mac Cosmetics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Topo Designs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Citizenry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David Yurman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Fine Dining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Under Armour</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Stella </a:t>
                      </a:r>
                      <a:r>
                        <a:rPr lang="en-US" sz="900" b="0" i="0" u="none" strike="noStrike" kern="1200" err="1">
                          <a:solidFill>
                            <a:schemeClr val="bg2">
                              <a:lumMod val="10000"/>
                            </a:schemeClr>
                          </a:solidFill>
                          <a:effectLst/>
                          <a:latin typeface="Roboto" panose="02000000000000000000" pitchFamily="2" charset="0"/>
                          <a:ea typeface="+mn-ea"/>
                          <a:cs typeface="+mn-cs"/>
                        </a:rPr>
                        <a:t>Mccartney</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Narscosmetics.com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Gaiam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Herman Miller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Bulgari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Ethnic</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Brooks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Diane Von Furstenberg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Honest Company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Prana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Houzz</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Cartier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Pub</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bl>
          </a:graphicData>
        </a:graphic>
      </p:graphicFrame>
      <p:sp>
        <p:nvSpPr>
          <p:cNvPr id="5" name="Subtitle 4">
            <a:extLst>
              <a:ext uri="{FF2B5EF4-FFF2-40B4-BE49-F238E27FC236}">
                <a16:creationId xmlns:a16="http://schemas.microsoft.com/office/drawing/2014/main" id="{AD61B7EB-2C42-6D1F-3E23-78850215E088}"/>
              </a:ext>
            </a:extLst>
          </p:cNvPr>
          <p:cNvSpPr>
            <a:spLocks noGrp="1"/>
          </p:cNvSpPr>
          <p:nvPr>
            <p:ph type="subTitle" idx="10"/>
          </p:nvPr>
        </p:nvSpPr>
        <p:spPr/>
        <p:txBody>
          <a:bodyPr/>
          <a:lstStyle/>
          <a:p>
            <a:endParaRPr lang="en-US"/>
          </a:p>
        </p:txBody>
      </p:sp>
      <p:sp>
        <p:nvSpPr>
          <p:cNvPr id="6" name="Subtitle 12">
            <a:extLst>
              <a:ext uri="{FF2B5EF4-FFF2-40B4-BE49-F238E27FC236}">
                <a16:creationId xmlns:a16="http://schemas.microsoft.com/office/drawing/2014/main" id="{977A8D43-C35A-2DD4-127C-D2BDCE96CC9A}"/>
              </a:ext>
            </a:extLst>
          </p:cNvPr>
          <p:cNvSpPr txBox="1">
            <a:spLocks/>
          </p:cNvSpPr>
          <p:nvPr/>
        </p:nvSpPr>
        <p:spPr>
          <a:xfrm>
            <a:off x="731034" y="6781800"/>
            <a:ext cx="11331426" cy="441916"/>
          </a:xfrm>
          <a:prstGeom prst="rect">
            <a:avLst/>
          </a:prstGeom>
        </p:spPr>
        <p:txBody>
          <a:bodyPr vert="horz" lIns="117564" tIns="58782" rIns="117564" bIns="58782" rtlCol="0" anchor="b">
            <a:noAutofit/>
          </a:bodyPr>
          <a:lstStyle>
            <a:lvl1pPr marL="0" indent="0"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None/>
              <a:defRPr lang="en-US" sz="800" kern="1200">
                <a:solidFill>
                  <a:schemeClr val="bg1">
                    <a:lumMod val="50000"/>
                  </a:schemeClr>
                </a:solidFill>
                <a:latin typeface="+mn-lt"/>
                <a:ea typeface="+mn-ea"/>
                <a:cs typeface="+mn-cs"/>
              </a:defRPr>
            </a:lvl1pPr>
            <a:lvl2pPr marL="587822" indent="0" algn="ctr" defTabSz="914400" rtl="0" eaLnBrk="1" latinLnBrk="0" hangingPunct="1">
              <a:lnSpc>
                <a:spcPct val="100000"/>
              </a:lnSpc>
              <a:spcBef>
                <a:spcPts val="0"/>
              </a:spcBef>
              <a:spcAft>
                <a:spcPts val="0"/>
              </a:spcAft>
              <a:buFont typeface="Arial" panose="020B0604020202020204" pitchFamily="34" charset="0"/>
              <a:buNone/>
              <a:defRPr lang="en-US" sz="2000" kern="1200">
                <a:solidFill>
                  <a:schemeClr val="tx1">
                    <a:tint val="75000"/>
                  </a:schemeClr>
                </a:solidFill>
                <a:latin typeface="+mn-lt"/>
                <a:ea typeface="+mn-ea"/>
                <a:cs typeface="+mn-cs"/>
              </a:defRPr>
            </a:lvl2pPr>
            <a:lvl3pPr marL="1175644" indent="0" algn="ctr" defTabSz="914400" rtl="0" eaLnBrk="1" latinLnBrk="0" hangingPunct="1">
              <a:lnSpc>
                <a:spcPct val="100000"/>
              </a:lnSpc>
              <a:spcBef>
                <a:spcPts val="0"/>
              </a:spcBef>
              <a:spcAft>
                <a:spcPts val="0"/>
              </a:spcAft>
              <a:buClr>
                <a:schemeClr val="accent3"/>
              </a:buClr>
              <a:buFont typeface="Arial" panose="020B0604020202020204" pitchFamily="34" charset="0"/>
              <a:buNone/>
              <a:defRPr lang="en-US" sz="2000" kern="1200">
                <a:solidFill>
                  <a:schemeClr val="tx1">
                    <a:tint val="75000"/>
                  </a:schemeClr>
                </a:solidFill>
                <a:latin typeface="+mn-lt"/>
                <a:ea typeface="+mn-ea"/>
                <a:cs typeface="+mn-cs"/>
              </a:defRPr>
            </a:lvl3pPr>
            <a:lvl4pPr marL="1763466" indent="0" algn="ctr" defTabSz="914400" rtl="0" eaLnBrk="1" latinLnBrk="0" hangingPunct="1">
              <a:lnSpc>
                <a:spcPct val="100000"/>
              </a:lnSpc>
              <a:spcBef>
                <a:spcPts val="0"/>
              </a:spcBef>
              <a:spcAft>
                <a:spcPts val="0"/>
              </a:spcAft>
              <a:buFont typeface="Arial" panose="020B0604020202020204" pitchFamily="34" charset="0"/>
              <a:buNone/>
              <a:defRPr lang="en-US" sz="2000" kern="1200">
                <a:solidFill>
                  <a:schemeClr val="tx1">
                    <a:tint val="75000"/>
                  </a:schemeClr>
                </a:solidFill>
                <a:latin typeface="+mn-lt"/>
                <a:ea typeface="+mn-ea"/>
                <a:cs typeface="+mn-cs"/>
              </a:defRPr>
            </a:lvl4pPr>
            <a:lvl5pPr marL="2351288" indent="0" algn="ctr" defTabSz="914400" rtl="0" eaLnBrk="1" latinLnBrk="0" hangingPunct="1">
              <a:lnSpc>
                <a:spcPct val="100000"/>
              </a:lnSpc>
              <a:spcBef>
                <a:spcPts val="0"/>
              </a:spcBef>
              <a:spcAft>
                <a:spcPts val="0"/>
              </a:spcAft>
              <a:buClr>
                <a:schemeClr val="tx1"/>
              </a:buClr>
              <a:buFont typeface="Arial" panose="020B0604020202020204" pitchFamily="34" charset="0"/>
              <a:buNone/>
              <a:defRPr lang="en-US" sz="2000" kern="1200">
                <a:solidFill>
                  <a:schemeClr val="tx1">
                    <a:tint val="75000"/>
                  </a:schemeClr>
                </a:solidFill>
                <a:latin typeface="+mn-lt"/>
                <a:ea typeface="+mn-ea"/>
                <a:cs typeface="+mn-cs"/>
              </a:defRPr>
            </a:lvl5pPr>
            <a:lvl6pPr marL="2939110"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6pPr>
            <a:lvl7pPr marL="3526932"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7pPr>
            <a:lvl8pPr marL="4114754"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8pPr>
            <a:lvl9pPr marL="4702576"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9pPr>
          </a:lstStyle>
          <a:p>
            <a:r>
              <a:rPr lang="en-US" sz="1200" i="1"/>
              <a:t>Source: TruInsight. All other brands are listed in top ten audience size from most-to-least visitor interest.</a:t>
            </a:r>
          </a:p>
          <a:p>
            <a:endParaRPr lang="en-US" sz="1200" i="1"/>
          </a:p>
        </p:txBody>
      </p:sp>
      <p:sp>
        <p:nvSpPr>
          <p:cNvPr id="2" name="Rectangle 1">
            <a:extLst>
              <a:ext uri="{FF2B5EF4-FFF2-40B4-BE49-F238E27FC236}">
                <a16:creationId xmlns:a16="http://schemas.microsoft.com/office/drawing/2014/main" id="{C1740D4E-8207-D2B2-4420-71DBC95C0E6F}"/>
              </a:ext>
            </a:extLst>
          </p:cNvPr>
          <p:cNvSpPr/>
          <p:nvPr/>
        </p:nvSpPr>
        <p:spPr>
          <a:xfrm>
            <a:off x="2133600" y="2140056"/>
            <a:ext cx="10464807" cy="4319223"/>
          </a:xfrm>
          <a:prstGeom prst="rect">
            <a:avLst/>
          </a:prstGeom>
          <a:solidFill>
            <a:srgbClr val="E28AC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Where to find audience details (set scaled audience from largest to smallest) –</a:t>
            </a:r>
          </a:p>
          <a:p>
            <a:pPr algn="ctr"/>
            <a:endParaRPr lang="en-US"/>
          </a:p>
          <a:p>
            <a:r>
              <a:rPr lang="en-US"/>
              <a:t>Shoes and footwear: brands &gt; style and fashion &gt; shoes and footwear</a:t>
            </a:r>
          </a:p>
          <a:p>
            <a:r>
              <a:rPr lang="en-US"/>
              <a:t>Designer: brands &gt; style and fashion &gt; apparel &gt; designer</a:t>
            </a:r>
          </a:p>
          <a:p>
            <a:r>
              <a:rPr lang="en-US"/>
              <a:t>Consumer electronics: technology &gt; consumer electronics retailers</a:t>
            </a:r>
          </a:p>
          <a:p>
            <a:r>
              <a:rPr lang="en-US"/>
              <a:t>Beauty: brands &gt; consumer packaged goods &gt; personal care &gt; cosmetics</a:t>
            </a:r>
          </a:p>
          <a:p>
            <a:r>
              <a:rPr lang="en-US"/>
              <a:t>Sporting goods: brands &gt; style and fashion &gt; apparel &gt; sportswear</a:t>
            </a:r>
          </a:p>
          <a:p>
            <a:r>
              <a:rPr lang="en-US"/>
              <a:t>Home: brands &gt; home and garden &gt; home furnishings and houseware</a:t>
            </a:r>
          </a:p>
          <a:p>
            <a:r>
              <a:rPr lang="en-US"/>
              <a:t>Jewelry: brands &gt; style and fashion &gt; jewelry</a:t>
            </a:r>
          </a:p>
          <a:p>
            <a:r>
              <a:rPr lang="en-US"/>
              <a:t>Restaurants: brands &gt; restaurants</a:t>
            </a:r>
          </a:p>
        </p:txBody>
      </p:sp>
    </p:spTree>
    <p:extLst>
      <p:ext uri="{BB962C8B-B14F-4D97-AF65-F5344CB8AC3E}">
        <p14:creationId xmlns:p14="http://schemas.microsoft.com/office/powerpoint/2010/main" val="3421297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32</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8077200" y="1371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noProof="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37 PPT Export</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1A7ADB6F-D866-473D-F5B8-BFB6B38B4941}"/>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2CCC9C64-1CB9-8FE8-58E4-3ACC061C8C0A}"/>
              </a:ext>
            </a:extLst>
          </p:cNvPr>
          <p:cNvSpPr/>
          <p:nvPr/>
        </p:nvSpPr>
        <p:spPr>
          <a:xfrm>
            <a:off x="8096108" y="132837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31 PPT Export</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a:solidFill>
                  <a:schemeClr val="tx1"/>
                </a:solidFill>
                <a:latin typeface="Roboto"/>
                <a:ea typeface="Roboto"/>
                <a:cs typeface="Arial"/>
              </a:rPr>
              <a:t>Demographics</a:t>
            </a:r>
            <a:r>
              <a:rPr lang="en-US" sz="1400">
                <a:solidFill>
                  <a:schemeClr val="tx1"/>
                </a:solidFill>
                <a:latin typeface="Roboto"/>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a:solidFill>
                  <a:schemeClr val="tx1"/>
                </a:solidFill>
                <a:latin typeface="Roboto"/>
                <a:ea typeface="Roboto"/>
                <a:cs typeface="Arial"/>
              </a:rPr>
              <a:t>Visitor Distance Traveled </a:t>
            </a:r>
            <a:r>
              <a:rPr lang="en-US" sz="1400">
                <a:solidFill>
                  <a:schemeClr val="tx1"/>
                </a:solidFill>
                <a:latin typeface="Roboto"/>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a:solidFill>
                  <a:schemeClr val="tx1"/>
                </a:solidFill>
                <a:latin typeface="Roboto"/>
                <a:ea typeface="Roboto"/>
                <a:cs typeface="Arial"/>
              </a:rPr>
              <a:t>Visitor Frequency </a:t>
            </a:r>
            <a:r>
              <a:rPr lang="en-US" sz="1400">
                <a:solidFill>
                  <a:schemeClr val="tx1"/>
                </a:solidFill>
                <a:latin typeface="Roboto"/>
                <a:ea typeface="Roboto"/>
                <a:cs typeface="Arial"/>
              </a:rPr>
              <a:t>– the number of times the same device was seen at a given location during the tested 12-month period.  </a:t>
            </a:r>
            <a:endParaRPr lang="en-US" sz="1400" strike="sngStrike">
              <a:solidFill>
                <a:schemeClr val="tx1"/>
              </a:solidFill>
              <a:latin typeface="Roboto"/>
              <a:ea typeface="Roboto"/>
              <a:cs typeface="Arial"/>
            </a:endParaRPr>
          </a:p>
          <a:p>
            <a:pPr lvl="0">
              <a:spcBef>
                <a:spcPts val="1200"/>
              </a:spcBef>
              <a:buClr>
                <a:srgbClr val="267BC3"/>
              </a:buClr>
            </a:pPr>
            <a:r>
              <a:rPr lang="en-US" sz="1400" b="1">
                <a:solidFill>
                  <a:schemeClr val="tx1"/>
                </a:solidFill>
                <a:latin typeface="Roboto"/>
                <a:ea typeface="Roboto"/>
                <a:cs typeface="Arial"/>
              </a:rPr>
              <a:t>Visitor Duration </a:t>
            </a:r>
            <a:r>
              <a:rPr lang="en-US" sz="1400">
                <a:solidFill>
                  <a:schemeClr val="tx1"/>
                </a:solidFill>
                <a:latin typeface="Roboto"/>
                <a:ea typeface="Roboto"/>
                <a:cs typeface="Arial"/>
              </a:rPr>
              <a:t>– the duration between the first and last “pings” to the mobile application while at the location.</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Visitor Origin</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 Visitor Origin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Visitor Origin map. </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Visitor Origin Population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37</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38</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39</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40</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41</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a:dk1>
      <a:srgbClr val="0C0C0C"/>
    </a:dk1>
    <a:lt1>
      <a:srgbClr val="FFFFFF"/>
    </a:lt1>
    <a:dk2>
      <a:srgbClr val="1B4273"/>
    </a:dk2>
    <a:lt2>
      <a:srgbClr val="FFFFFF"/>
    </a:lt2>
    <a:accent1>
      <a:srgbClr val="005390"/>
    </a:accent1>
    <a:accent2>
      <a:srgbClr val="C20A29"/>
    </a:accent2>
    <a:accent3>
      <a:srgbClr val="7DA222"/>
    </a:accent3>
    <a:accent4>
      <a:srgbClr val="FFC000"/>
    </a:accent4>
    <a:accent5>
      <a:srgbClr val="67A5D9"/>
    </a:accent5>
    <a:accent6>
      <a:srgbClr val="491A1F"/>
    </a:accent6>
    <a:hlink>
      <a:srgbClr val="93353E"/>
    </a:hlink>
    <a:folHlink>
      <a:srgbClr val="422B9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mso-contentType ?>
<FormTemplates xmlns="http://schemas.microsoft.com/sharepoint/v3/contenttype/forms">
  <Display>DocumentLibraryForm</Display>
  <Edit>DocumentLibraryForm</Edit>
  <New>DocumentLibraryForm</New>
</FormTemplates>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2.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3.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4.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5.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6.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7.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8.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9.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10.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11.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12.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13.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14.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15.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6.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17.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8.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9.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20.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21.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22.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23.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24.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25.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26.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27.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28.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29.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30.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31.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32.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33.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34.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35.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36.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37.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38.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39.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40.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41.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42.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43.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44.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45.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46.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47.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48.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49.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50.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51.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52.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53.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54.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55.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56.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57.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58.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59.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60.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61.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62.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63.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64.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65.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66.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67.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68.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69.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70.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71.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72.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73.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74.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75.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76.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77.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78.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79.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80.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81.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82.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83.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84.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85.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86.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87.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88.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89.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90.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91.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92.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93.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94.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95.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96.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97.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98.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99.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100.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101.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102.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03.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104.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105.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06.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107.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108.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109.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110.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111.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112.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113.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114.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115.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116.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117.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118.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119.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120.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121.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122.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123.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124.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125.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26.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127.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128.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129.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130.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131.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132.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133.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134.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35.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36.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137.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138.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139.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140.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141.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142.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143.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144.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145.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46.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147.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148.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149.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50.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151.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52.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153.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154.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155.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156.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157.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58.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159.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160.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161.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162.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163.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164.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165.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166.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167.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168.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169.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170.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171.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172.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173.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174.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175.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176.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177.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178.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179.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180.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181.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182.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183.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184.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85.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186.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187.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188.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89.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190.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191.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192.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193.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194.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195.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196.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197.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198.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199.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200.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201.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202.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203.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204.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205.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206.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207.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208.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209.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210.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211.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212.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213.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214.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215.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216.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217.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218.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219.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220.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221.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222.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223.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224.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225.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226.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227.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228.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229.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230.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231.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232.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233.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234.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235.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236.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237.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238.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239.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240.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241.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242.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243.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244.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245.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246.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247.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248.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249.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250.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251.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252.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253.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254.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255.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256.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257.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258.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259.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260.xml><?xml version="1.0" encoding="utf-8"?>
<ds:datastoreItem xmlns:ds="http://schemas.openxmlformats.org/officeDocument/2006/customXml" ds:itemID="{CC06F8BC-1AFB-49C5-B98B-FC2546D61B98}">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1587</TotalTime>
  <Words>4095</Words>
  <Application>Microsoft Office PowerPoint</Application>
  <PresentationFormat>Custom</PresentationFormat>
  <Paragraphs>864</Paragraphs>
  <Slides>41</Slides>
  <Notes>1</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41</vt:i4>
      </vt:variant>
    </vt:vector>
  </HeadingPairs>
  <TitlesOfParts>
    <vt:vector size="53" baseType="lpstr">
      <vt:lpstr>Aptos</vt:lpstr>
      <vt:lpstr>Aptos Display</vt:lpstr>
      <vt:lpstr>Aptos Narrow</vt:lpstr>
      <vt:lpstr>Arial</vt:lpstr>
      <vt:lpstr>Calibri</vt:lpstr>
      <vt:lpstr>Lato Black</vt:lpstr>
      <vt:lpstr>Roboto</vt:lpstr>
      <vt:lpstr>Roboto Bold</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Visitor Origin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TruInsight™ – Visitor Digital Interests</vt:lpstr>
      <vt:lpstr>PowerPoint Presentation</vt:lpstr>
      <vt:lpstr>PowerPoint Presentation</vt:lpstr>
      <vt:lpstr>The [audience] profile and [audience] profile are provided to identify more targeted opportunities </vt:lpstr>
      <vt:lpstr>XXXXX Email Audience</vt:lpstr>
      <vt:lpstr>XXXXX Email Audience</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149</cp:revision>
  <cp:lastPrinted>2021-09-02T15:36:20Z</cp:lastPrinted>
  <dcterms:created xsi:type="dcterms:W3CDTF">2019-03-01T18:53:51Z</dcterms:created>
  <dcterms:modified xsi:type="dcterms:W3CDTF">2025-10-30T15:01:26Z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