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0"/>
  </p:notesMasterIdLst>
  <p:handoutMasterIdLst>
    <p:handoutMasterId r:id="rId301"/>
  </p:handoutMasterIdLst>
  <p:sldIdLst>
    <p:sldId id="1227" r:id="rId265"/>
    <p:sldId id="315" r:id="rId266"/>
    <p:sldId id="1110" r:id="rId267"/>
    <p:sldId id="295" r:id="rId268"/>
    <p:sldId id="1228" r:id="rId269"/>
    <p:sldId id="1229" r:id="rId270"/>
    <p:sldId id="662" r:id="rId271"/>
    <p:sldId id="1204" r:id="rId272"/>
    <p:sldId id="123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161" r:id="rId290"/>
    <p:sldId id="578" r:id="rId291"/>
    <p:sldId id="1213" r:id="rId292"/>
    <p:sldId id="1214" r:id="rId293"/>
    <p:sldId id="333" r:id="rId294"/>
    <p:sldId id="1230" r:id="rId295"/>
    <p:sldId id="1231" r:id="rId296"/>
    <p:sldId id="1232" r:id="rId297"/>
    <p:sldId id="297" r:id="rId298"/>
    <p:sldId id="1233" r:id="rId299"/>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32" y="858"/>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theme" Target="theme/theme1.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291" Type="http://schemas.openxmlformats.org/officeDocument/2006/relationships/slide" Target="slides/slide27.xml"/><Relationship Id="rId305" Type="http://schemas.openxmlformats.org/officeDocument/2006/relationships/tableStyles" Target="tableStyles.xml"/><Relationship Id="rId44" Type="http://schemas.openxmlformats.org/officeDocument/2006/relationships/customXml" Target="../customXml/item44.xml"/><Relationship Id="rId65" Type="http://schemas.openxmlformats.org/officeDocument/2006/relationships/customXml" Target="../customXml/item65.xml"/><Relationship Id="rId86" Type="http://schemas.openxmlformats.org/officeDocument/2006/relationships/customXml" Target="../customXml/item86.xml"/><Relationship Id="rId130" Type="http://schemas.openxmlformats.org/officeDocument/2006/relationships/customXml" Target="../customXml/item130.xml"/><Relationship Id="rId151" Type="http://schemas.openxmlformats.org/officeDocument/2006/relationships/customXml" Target="../customXml/item151.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microsoft.com/office/2016/11/relationships/changesInfo" Target="changesInfos/changesInfo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microsoft.com/office/2015/10/relationships/revisionInfo" Target="revisionInfo.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microsoft.com/office/2018/10/relationships/authors" Target="author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notesMaster" Target="notesMasters/notesMaster1.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handoutMaster" Target="handoutMasters/handoutMaster1.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presProps" Target="presProps.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viewProps" Target="viewProps.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11/24/2025</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11/24/2025</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86561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11/24/2025</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11/24/2025</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11/24/2025</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11/24/2025</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11/24/2025</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11/24/2025</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11/24/2025</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11/24/2025</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11/24/2025</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11/24/2025</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11/24/2025</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2025,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11/24/2025</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12" Type="http://schemas.openxmlformats.org/officeDocument/2006/relationships/image" Target="../media/image23.pn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7.png"/><Relationship Id="rId11" Type="http://schemas.openxmlformats.org/officeDocument/2006/relationships/image" Target="../media/image22.sv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jpeg"/><Relationship Id="rId9" Type="http://schemas.openxmlformats.org/officeDocument/2006/relationships/image" Target="../media/image20.sv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chart" Target="../charts/chart3.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November 24, 2025</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a:solidFill>
                  <a:srgbClr val="273E6D"/>
                </a:solidFill>
                <a:latin typeface="+mj-lt"/>
                <a:cs typeface="Arial" panose="020B0604020202020204" pitchFamily="34" charset="0"/>
              </a:rPr>
              <a:t>Time period of the data: September 2023 – August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
        <p:nvSpPr>
          <p:cNvPr id="11" name="Rectangle 10">
            <a:extLst>
              <a:ext uri="{FF2B5EF4-FFF2-40B4-BE49-F238E27FC236}">
                <a16:creationId xmlns:a16="http://schemas.microsoft.com/office/drawing/2014/main" id="{BFA8B1C6-EF39-4EBF-5283-DBCCD6168483}"/>
              </a:ext>
            </a:extLst>
          </p:cNvPr>
          <p:cNvSpPr/>
          <p:nvPr/>
        </p:nvSpPr>
        <p:spPr>
          <a:xfrm>
            <a:off x="8391438" y="3951802"/>
            <a:ext cx="2416175" cy="1404545"/>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timeframe</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3"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4"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5"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VISITOR ORIGIN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6">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a:solidFill>
                  <a:srgbClr val="0C0C0C"/>
                </a:solidFill>
                <a:latin typeface="Arial" panose="020B0604020202020204"/>
              </a:rPr>
              <a:t>ZIP5</a:t>
            </a:r>
            <a:endParaRPr lang="en-US" sz="1020" dirty="0">
              <a:solidFill>
                <a:srgbClr val="0C0C0C"/>
              </a:solidFill>
              <a:latin typeface="Arial" panose="020B0604020202020204"/>
            </a:endParaRP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a:solidFill>
                  <a:srgbClr val="0C0C0C"/>
                </a:solidFill>
                <a:latin typeface="Calibri"/>
              </a:rPr>
              <a:t>OF THE VISITOR HOUSEHOLDS EARN $100K+ A YEAR </a:t>
            </a:r>
          </a:p>
          <a:p>
            <a:pPr defTabSz="914964"/>
            <a:r>
              <a:rPr lang="en-US" sz="1362" b="1">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7"/>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2"/>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a:solidFill>
                  <a:srgbClr val="7F7F7F"/>
                </a:solidFill>
              </a:rPr>
              <a:t>Source: TruTrade (January 2023 - December 2023); Tapestry Esri</a:t>
            </a:r>
            <a:endParaRPr lang="en-US" sz="80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a:solidFill>
                  <a:srgbClr val="000000"/>
                </a:solidFill>
              </a:rPr>
              <a:t>XXXXX</a:t>
            </a:r>
            <a:endParaRPr lang="en-US" sz="2800"/>
          </a:p>
          <a:p>
            <a:r>
              <a:rPr lang="en-US" sz="2800">
                <a:solidFill>
                  <a:srgbClr val="000000"/>
                </a:solidFill>
              </a:rPr>
              <a:t>Visitor Lifestyles</a:t>
            </a:r>
            <a:endParaRPr lang="en-US" sz="280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a:ea typeface="Calibri"/>
                <a:cs typeface="Calibri"/>
              </a:rPr>
              <a:t>Top 4 Visitor Lifestyles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a:solidFill>
                  <a:schemeClr val="tx1"/>
                </a:solidFill>
              </a:rPr>
              <a:t> </a:t>
            </a:r>
            <a:endParaRPr lang="en-US" sz="120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391936" y="3080041"/>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7" name="Rectangle 6">
            <a:extLst>
              <a:ext uri="{FF2B5EF4-FFF2-40B4-BE49-F238E27FC236}">
                <a16:creationId xmlns:a16="http://schemas.microsoft.com/office/drawing/2014/main" id="{5579DBAA-21B8-1F25-1106-D4E0D16E0AF6}"/>
              </a:ext>
            </a:extLst>
          </p:cNvPr>
          <p:cNvSpPr/>
          <p:nvPr/>
        </p:nvSpPr>
        <p:spPr>
          <a:xfrm>
            <a:off x="9336968" y="676655"/>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Cover “more info” with MSA Index</a:t>
            </a:r>
          </a:p>
        </p:txBody>
      </p:sp>
      <p:sp>
        <p:nvSpPr>
          <p:cNvPr id="8" name="Rectangle 7">
            <a:extLst>
              <a:ext uri="{FF2B5EF4-FFF2-40B4-BE49-F238E27FC236}">
                <a16:creationId xmlns:a16="http://schemas.microsoft.com/office/drawing/2014/main" id="{BFCAA20E-859B-C6A9-2880-1D5B6BA69C51}"/>
              </a:ext>
            </a:extLst>
          </p:cNvPr>
          <p:cNvSpPr/>
          <p:nvPr/>
        </p:nvSpPr>
        <p:spPr>
          <a:xfrm>
            <a:off x="4161508" y="3071282"/>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0" name="Rectangle 9">
            <a:extLst>
              <a:ext uri="{FF2B5EF4-FFF2-40B4-BE49-F238E27FC236}">
                <a16:creationId xmlns:a16="http://schemas.microsoft.com/office/drawing/2014/main" id="{E974FA78-44EB-E9A9-97A3-F63073CD82B3}"/>
              </a:ext>
            </a:extLst>
          </p:cNvPr>
          <p:cNvSpPr/>
          <p:nvPr/>
        </p:nvSpPr>
        <p:spPr>
          <a:xfrm>
            <a:off x="6976460"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1" name="Rectangle 10">
            <a:extLst>
              <a:ext uri="{FF2B5EF4-FFF2-40B4-BE49-F238E27FC236}">
                <a16:creationId xmlns:a16="http://schemas.microsoft.com/office/drawing/2014/main" id="{5963369D-356E-5434-9333-C09B31C69F12}"/>
              </a:ext>
            </a:extLst>
          </p:cNvPr>
          <p:cNvSpPr/>
          <p:nvPr/>
        </p:nvSpPr>
        <p:spPr>
          <a:xfrm>
            <a:off x="9791412"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2" name="Rectangle 11">
            <a:extLst>
              <a:ext uri="{FF2B5EF4-FFF2-40B4-BE49-F238E27FC236}">
                <a16:creationId xmlns:a16="http://schemas.microsoft.com/office/drawing/2014/main" id="{212D95BA-6F85-2C6D-9A74-F6756515B57C}"/>
              </a:ext>
            </a:extLst>
          </p:cNvPr>
          <p:cNvSpPr/>
          <p:nvPr/>
        </p:nvSpPr>
        <p:spPr>
          <a:xfrm>
            <a:off x="9233046" y="2996858"/>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MSA Index</a:t>
            </a:r>
          </a:p>
        </p:txBody>
      </p:sp>
      <p:sp>
        <p:nvSpPr>
          <p:cNvPr id="13" name="Rectangle 12">
            <a:extLst>
              <a:ext uri="{FF2B5EF4-FFF2-40B4-BE49-F238E27FC236}">
                <a16:creationId xmlns:a16="http://schemas.microsoft.com/office/drawing/2014/main" id="{66CDF76F-E9D5-1CCB-8699-4D4418CEDB82}"/>
              </a:ext>
            </a:extLst>
          </p:cNvPr>
          <p:cNvSpPr/>
          <p:nvPr/>
        </p:nvSpPr>
        <p:spPr>
          <a:xfrm>
            <a:off x="186727" y="4496970"/>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a:solidFill>
                  <a:srgbClr val="FFFFFF"/>
                </a:solidFill>
                <a:latin typeface="Arial" panose="020B0604020202020204"/>
              </a:rPr>
              <a:t>Replace Tapestry source</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a:p>
            <a:pPr algn="ctr" defTabSz="987527">
              <a:defRPr/>
            </a:pPr>
            <a:r>
              <a:rPr lang="en-US" sz="1944" kern="0">
                <a:solidFill>
                  <a:srgbClr val="FFFFFF"/>
                </a:solidFill>
                <a:latin typeface="Arial" panose="020B0604020202020204"/>
              </a:rPr>
              <a:t>“</a:t>
            </a:r>
            <a:r>
              <a:rPr lang="en-US" sz="2000" i="1">
                <a:solidFill>
                  <a:schemeClr val="bg1"/>
                </a:solidFill>
              </a:rPr>
              <a:t>Source: TruTrade (January 2023 - December 2023); Tapestry Esri”</a:t>
            </a:r>
            <a:endParaRPr lang="en-US" sz="200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with the correct end date</a:t>
            </a:r>
          </a:p>
        </p:txBody>
      </p:sp>
      <p:sp>
        <p:nvSpPr>
          <p:cNvPr id="17" name="Rectangle 16">
            <a:extLst>
              <a:ext uri="{FF2B5EF4-FFF2-40B4-BE49-F238E27FC236}">
                <a16:creationId xmlns:a16="http://schemas.microsoft.com/office/drawing/2014/main" id="{B583DB3F-F39C-DCCF-E309-447F8BCD7F73}"/>
              </a:ext>
            </a:extLst>
          </p:cNvPr>
          <p:cNvSpPr/>
          <p:nvPr/>
        </p:nvSpPr>
        <p:spPr>
          <a:xfrm>
            <a:off x="3845868" y="213012"/>
            <a:ext cx="4572000" cy="320510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Get Tapestry Data from Dashboard &gt; Overview&gt; Tapestry Profile</a:t>
            </a:r>
          </a:p>
          <a:p>
            <a:pPr algn="ctr" defTabSz="987527">
              <a:defRPr/>
            </a:pPr>
            <a:endParaRPr lang="en-US" sz="1944" kern="0">
              <a:solidFill>
                <a:srgbClr val="FFFFFF"/>
              </a:solidFill>
              <a:latin typeface="Arial" panose="020B0604020202020204"/>
            </a:endParaRPr>
          </a:p>
          <a:p>
            <a:pPr algn="ctr" defTabSz="987527">
              <a:defRPr/>
            </a:pPr>
            <a:r>
              <a:rPr lang="en-US" sz="1944" kern="0">
                <a:solidFill>
                  <a:srgbClr val="FFFFFF"/>
                </a:solidFill>
                <a:latin typeface="Arial" panose="020B0604020202020204"/>
              </a:rPr>
              <a:t>Descriptions [do not copy from dashboard]: https://aro36579709.sharepoint.com/:x:/s/ABResources/EZVOKAglh91BvD0g445LEmABqmndIIaAOjxMFMIEwvQPIQ?e=5ZdPF8</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9" name="Slide Number Placeholder 4">
            <a:extLst>
              <a:ext uri="{FF2B5EF4-FFF2-40B4-BE49-F238E27FC236}">
                <a16:creationId xmlns:a16="http://schemas.microsoft.com/office/drawing/2014/main" id="{4808DF4E-9A55-8F0C-CAFF-385D58C3648A}"/>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a:solidFill>
                <a:schemeClr val="bg1"/>
              </a:solidFill>
            </a:endParaRPr>
          </a:p>
        </p:txBody>
      </p:sp>
    </p:spTree>
    <p:extLst>
      <p:ext uri="{BB962C8B-B14F-4D97-AF65-F5344CB8AC3E}">
        <p14:creationId xmlns:p14="http://schemas.microsoft.com/office/powerpoint/2010/main" val="13785971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2101459246"/>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1000" b="1" i="0" u="none" strike="noStrike" dirty="0">
                          <a:solidFill>
                            <a:srgbClr val="000000"/>
                          </a:solidFill>
                          <a:effectLst/>
                          <a:latin typeface="Roboto" panose="02000000000000000000" pitchFamily="2" charset="0"/>
                        </a:rPr>
                        <a:t>AVERAGE / TOTAL</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136336984"/>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2024 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C9CFC631-7C4F-A187-CA43-A5E679E88AB6}"/>
              </a:ext>
            </a:extLst>
          </p:cNvPr>
          <p:cNvSpPr/>
          <p:nvPr/>
        </p:nvSpPr>
        <p:spPr>
          <a:xfrm>
            <a:off x="6072923" y="1752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CompetitiveMarketPosition</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DDANALYSIS12</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3" name="Rectangle 2">
            <a:extLst>
              <a:ext uri="{FF2B5EF4-FFF2-40B4-BE49-F238E27FC236}">
                <a16:creationId xmlns:a16="http://schemas.microsoft.com/office/drawing/2014/main" id="{7F93D2B0-24F1-BFBF-D2DF-49DBBAFC8D05}"/>
              </a:ext>
            </a:extLst>
          </p:cNvPr>
          <p:cNvSpPr/>
          <p:nvPr/>
        </p:nvSpPr>
        <p:spPr>
          <a:xfrm>
            <a:off x="4101101"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DrawDemo</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Visitor Origin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dirty="0"/>
              <a:t>…</a:t>
            </a:r>
            <a:endParaRPr lang="en-US" sz="1800" dirty="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1100" dirty="0">
                <a:ea typeface="Roboto"/>
                <a:cs typeface="Roboto"/>
              </a:rPr>
              <a:t>MTZIP1</a:t>
            </a:r>
          </a:p>
          <a:p>
            <a:pPr marL="0" indent="0">
              <a:buNone/>
            </a:pPr>
            <a:r>
              <a:rPr lang="en-US" sz="1100" dirty="0">
                <a:ea typeface="Roboto"/>
                <a:cs typeface="Roboto"/>
              </a:rPr>
              <a:t>MTZIP2</a:t>
            </a:r>
          </a:p>
          <a:p>
            <a:pPr marL="0" indent="0">
              <a:buNone/>
            </a:pPr>
            <a:r>
              <a:rPr lang="en-US" sz="1100" dirty="0">
                <a:ea typeface="Roboto"/>
                <a:cs typeface="Roboto"/>
              </a:rPr>
              <a:t>MTZIP3</a:t>
            </a:r>
          </a:p>
          <a:p>
            <a:pPr marL="0" indent="0">
              <a:buNone/>
            </a:pPr>
            <a:r>
              <a:rPr lang="en-US" sz="1100" dirty="0">
                <a:ea typeface="Roboto"/>
                <a:cs typeface="Roboto"/>
              </a:rPr>
              <a:t>MTZIP4</a:t>
            </a:r>
          </a:p>
          <a:p>
            <a:pPr marL="0" indent="0">
              <a:buNone/>
            </a:pPr>
            <a:r>
              <a:rPr lang="en-US" sz="1100" dirty="0">
                <a:ea typeface="Roboto"/>
                <a:cs typeface="Roboto"/>
              </a:rPr>
              <a:t>MTZIP5</a:t>
            </a:r>
          </a:p>
          <a:p>
            <a:pPr marL="0" indent="0">
              <a:buNone/>
            </a:pPr>
            <a:r>
              <a:rPr lang="en-US" sz="1100" dirty="0">
                <a:ea typeface="Roboto"/>
                <a:cs typeface="Roboto"/>
              </a:rPr>
              <a:t>MTZIP6</a:t>
            </a:r>
          </a:p>
          <a:p>
            <a:pPr marL="0" indent="0">
              <a:buNone/>
            </a:pPr>
            <a:r>
              <a:rPr lang="en-US" sz="1100" dirty="0">
                <a:ea typeface="Roboto"/>
                <a:cs typeface="Roboto"/>
              </a:rPr>
              <a:t>MTZIP7</a:t>
            </a:r>
          </a:p>
          <a:p>
            <a:pPr marL="0" indent="0">
              <a:buNone/>
            </a:pPr>
            <a:r>
              <a:rPr lang="en-US" sz="1100" dirty="0">
                <a:ea typeface="Roboto"/>
                <a:cs typeface="Roboto"/>
              </a:rPr>
              <a:t>MTZIP8</a:t>
            </a:r>
          </a:p>
          <a:p>
            <a:pPr marL="0" indent="0">
              <a:buNone/>
            </a:pPr>
            <a:r>
              <a:rPr lang="en-US" sz="1100" dirty="0">
                <a:ea typeface="Roboto"/>
                <a:cs typeface="Roboto"/>
              </a:rPr>
              <a:t>MTZIP9</a:t>
            </a:r>
          </a:p>
          <a:p>
            <a:pPr marL="0" indent="0">
              <a:buNone/>
            </a:pPr>
            <a:r>
              <a:rPr lang="en-US" sz="1100" dirty="0">
                <a:ea typeface="Roboto"/>
                <a:cs typeface="Roboto"/>
              </a:rPr>
              <a:t>MTZIP_10</a:t>
            </a:r>
          </a:p>
          <a:p>
            <a:pPr marL="0" indent="0">
              <a:buFont typeface="Roboto" panose="02000000000000000000" pitchFamily="2" charset="0"/>
              <a:buNone/>
            </a:pPr>
            <a:endParaRPr lang="en-US" sz="1600" dirty="0">
              <a:ea typeface="Roboto"/>
              <a:cs typeface="Roboto"/>
            </a:endParaRPr>
          </a:p>
          <a:p>
            <a:pPr marL="0" indent="0">
              <a:buFont typeface="Roboto" panose="02000000000000000000" pitchFamily="2" charset="0"/>
              <a:buNone/>
            </a:pPr>
            <a:r>
              <a:rPr lang="en-US" sz="1600" dirty="0">
                <a:ea typeface="Roboto"/>
                <a:cs typeface="Roboto"/>
              </a:rPr>
              <a:t>MTANALYSIS14</a:t>
            </a: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 </a:t>
            </a:r>
            <a:r>
              <a:rPr lang="en-US"/>
              <a:t>Add zip code boundaries.</a:t>
            </a:r>
            <a:endParaRPr lang="en-US" dirty="0"/>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1491970029"/>
              </p:ext>
            </p:extLst>
          </p:nvPr>
        </p:nvGraphicFramePr>
        <p:xfrm>
          <a:off x="740665" y="1676400"/>
          <a:ext cx="11320271" cy="521208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000000"/>
                          </a:solidFill>
                          <a:effectLst/>
                          <a:latin typeface="Roboto" panose="02000000000000000000" pitchFamily="2" charset="0"/>
                        </a:rPr>
                        <a:t>AVERAGE / TOTAL</a:t>
                      </a: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extLst>
                  <a:ext uri="{0D108BD9-81ED-4DB2-BD59-A6C34878D82A}">
                    <a16:rowId xmlns:a16="http://schemas.microsoft.com/office/drawing/2014/main" val="736578663"/>
                  </a:ext>
                </a:extLst>
              </a:tr>
            </a:tbl>
          </a:graphicData>
        </a:graphic>
      </p:graphicFrame>
      <p:sp>
        <p:nvSpPr>
          <p:cNvPr id="2" name="Rectangle 1">
            <a:extLst>
              <a:ext uri="{FF2B5EF4-FFF2-40B4-BE49-F238E27FC236}">
                <a16:creationId xmlns:a16="http://schemas.microsoft.com/office/drawing/2014/main" id="{AE3A3B0B-10F7-EA48-2751-C72DF6F59DD8}"/>
              </a:ext>
            </a:extLst>
          </p:cNvPr>
          <p:cNvSpPr/>
          <p:nvPr/>
        </p:nvSpPr>
        <p:spPr>
          <a:xfrm>
            <a:off x="3875314" y="24214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ZipCodes</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graphicFrame>
        <p:nvGraphicFramePr>
          <p:cNvPr id="4" name="Table 3">
            <a:extLst>
              <a:ext uri="{FF2B5EF4-FFF2-40B4-BE49-F238E27FC236}">
                <a16:creationId xmlns:a16="http://schemas.microsoft.com/office/drawing/2014/main" id="{CCF6741A-0205-ED5B-709D-DA4D676ED457}"/>
              </a:ext>
            </a:extLst>
          </p:cNvPr>
          <p:cNvGraphicFramePr>
            <a:graphicFrameLocks noGrp="1"/>
          </p:cNvGraphicFramePr>
          <p:nvPr>
            <p:extLst>
              <p:ext uri="{D42A27DB-BD31-4B8C-83A1-F6EECF244321}">
                <p14:modId xmlns:p14="http://schemas.microsoft.com/office/powerpoint/2010/main" val="163208085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endParaRPr lang="en-US" sz="2400" dirty="0"/>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230832"/>
          </a:xfrm>
          <a:prstGeom prst="rect">
            <a:avLst/>
          </a:prstGeom>
          <a:noFill/>
        </p:spPr>
        <p:txBody>
          <a:bodyPr wrap="square" rtlCol="0">
            <a:spAutoFit/>
          </a:bodyPr>
          <a:lstStyle/>
          <a:p>
            <a:r>
              <a:rPr lang="en-US" sz="900" b="1" dirty="0"/>
              <a:t>Average Duration – 96.8</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230832"/>
          </a:xfrm>
          <a:prstGeom prst="rect">
            <a:avLst/>
          </a:prstGeom>
          <a:noFill/>
        </p:spPr>
        <p:txBody>
          <a:bodyPr wrap="square" rtlCol="0">
            <a:spAutoFit/>
          </a:bodyPr>
          <a:lstStyle/>
          <a:p>
            <a:r>
              <a:rPr lang="en-US" sz="900" b="1" dirty="0"/>
              <a:t>Average Annual Frequency – 1.3</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5">
            <a:extLst>
              <a:ext uri="{FF2B5EF4-FFF2-40B4-BE49-F238E27FC236}">
                <a16:creationId xmlns:a16="http://schemas.microsoft.com/office/drawing/2014/main" id="{B035AA2B-49EB-E8C6-76A7-88B0D6EE5608}"/>
              </a:ext>
            </a:extLst>
          </p:cNvPr>
          <p:cNvSpPr>
            <a:spLocks noGrp="1"/>
          </p:cNvSpPr>
          <p:nvPr>
            <p:ph idx="11"/>
          </p:nvPr>
        </p:nvSpPr>
        <p:spPr/>
        <p:txBody>
          <a:bodyPr/>
          <a:lstStyle/>
          <a:p>
            <a:endParaRPr lang="en-US"/>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r>
              <a:rPr lang="en-US" sz="800" i="1" dirty="0">
                <a:solidFill>
                  <a:srgbClr val="7F7F7F"/>
                </a:solidFill>
              </a:rPr>
              <a:t>Source: </a:t>
            </a:r>
            <a:r>
              <a:rPr lang="en-US" sz="800" i="1" dirty="0" err="1">
                <a:solidFill>
                  <a:srgbClr val="7F7F7F"/>
                </a:solidFill>
              </a:rPr>
              <a:t>TruTrade</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a:solidFill>
                  <a:srgbClr val="000000"/>
                </a:solidFill>
              </a:rPr>
              <a:t>Avg Distance</a:t>
            </a:r>
          </a:p>
          <a:p>
            <a:pPr marL="0" indent="0">
              <a:buNone/>
            </a:pPr>
            <a:r>
              <a:rPr lang="en-US" sz="1200" b="1">
                <a:solidFill>
                  <a:srgbClr val="000000"/>
                </a:solidFill>
              </a:rPr>
              <a:t>(Out-of-state Visitors)</a:t>
            </a:r>
            <a:endParaRPr lang="en-US" sz="120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44.9%</a:t>
            </a:r>
            <a:endParaRPr lang="en-US" sz="180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36.9%</a:t>
            </a:r>
            <a:endParaRPr lang="en-US" sz="180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4057615800"/>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95383410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1214896333"/>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a:solidFill>
                            <a:srgbClr val="000000"/>
                          </a:solidFill>
                          <a:effectLst/>
                          <a:latin typeface="Calibri" panose="020F0502020204030204" pitchFamily="34" charset="0"/>
                        </a:rPr>
                        <a:t>78739, Austin, TX (19.8%)</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(6.7%)</a:t>
                      </a: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(4.5%)</a:t>
                      </a: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(3.2%)</a:t>
                      </a: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lang="en-US" sz="1100" b="0" i="0" u="none" strike="noStrike">
                          <a:solidFill>
                            <a:srgbClr val="000000"/>
                          </a:solidFill>
                          <a:effectLst/>
                          <a:latin typeface="Calibri" panose="020F0502020204030204" pitchFamily="34" charset="0"/>
                        </a:rPr>
                        <a:t>78737, Austin, TX (2.6%)</a:t>
                      </a: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726741995"/>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a:solidFill>
                            <a:srgbClr val="000000"/>
                          </a:solidFill>
                          <a:effectLst/>
                          <a:latin typeface="Calibri" panose="020F0502020204030204" pitchFamily="34" charset="0"/>
                        </a:rPr>
                        <a:t>78739, Austin, TX (25.4%)</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(6.8%)</a:t>
                      </a: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(5.4%)</a:t>
                      </a: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(4.3%)</a:t>
                      </a: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lang="en-US" sz="1100" b="0" i="0" u="none" strike="noStrike">
                          <a:solidFill>
                            <a:srgbClr val="000000"/>
                          </a:solidFill>
                          <a:effectLst/>
                          <a:latin typeface="Calibri" panose="020F0502020204030204" pitchFamily="34" charset="0"/>
                        </a:rPr>
                        <a:t>78641, Leander, TX (3.0%)</a:t>
                      </a: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3246331" y="4389120"/>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dirty="0"/>
              <a:t>Dashboard access to </a:t>
            </a:r>
            <a:r>
              <a:rPr lang="en-US" dirty="0" err="1"/>
              <a:t>TruTrade</a:t>
            </a:r>
            <a:r>
              <a:rPr lang="en-US" dirty="0"/>
              <a:t> is available online 24/7:</a:t>
            </a:r>
          </a:p>
          <a:p>
            <a:pPr lvl="1"/>
            <a:r>
              <a:rPr lang="en-US" sz="1600" dirty="0">
                <a:hlinkClick r:id="rId2"/>
              </a:rPr>
              <a:t>https://trutrade.alexanderbabbage.com</a:t>
            </a:r>
            <a:endParaRPr lang="en-US" sz="1600" dirty="0"/>
          </a:p>
          <a:p>
            <a:endParaRPr lang="en-US" dirty="0"/>
          </a:p>
          <a:p>
            <a:r>
              <a:rPr lang="en-US" dirty="0"/>
              <a:t>If additional logins are needed, please contact Christy Loudermilk at:</a:t>
            </a:r>
          </a:p>
          <a:p>
            <a:pPr lvl="1"/>
            <a:r>
              <a:rPr lang="en-US" sz="1600" dirty="0"/>
              <a:t>cloudermilk@alexanderbabbage.com</a:t>
            </a:r>
          </a:p>
          <a:p>
            <a:endParaRPr lang="en-US" dirty="0"/>
          </a:p>
          <a:p>
            <a:r>
              <a:rPr lang="en-US" dirty="0"/>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27</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a:t>TruTrade 5.0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4105385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28</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159140" y="3456249"/>
            <a:ext cx="3208757" cy="307777"/>
          </a:xfrm>
          <a:prstGeom prst="rect">
            <a:avLst/>
          </a:prstGeom>
          <a:noFill/>
          <a:ln w="3175">
            <a:noFill/>
          </a:ln>
        </p:spPr>
        <p:txBody>
          <a:bodyPr wrap="square" rtlCol="0">
            <a:spAutoFit/>
          </a:bodyPr>
          <a:lstStyle/>
          <a:p>
            <a:pPr algn="r"/>
            <a:r>
              <a:rPr lang="en-US" sz="1400" b="1">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2817614" y="1431708"/>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10.14” x Width: 7.92”)</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3284"/>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29</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3" name="Rectangle 2">
            <a:extLst>
              <a:ext uri="{FF2B5EF4-FFF2-40B4-BE49-F238E27FC236}">
                <a16:creationId xmlns:a16="http://schemas.microsoft.com/office/drawing/2014/main" id="{2CCC9C64-1CB9-8FE8-58E4-3ACC061C8C0A}"/>
              </a:ext>
            </a:extLst>
          </p:cNvPr>
          <p:cNvSpPr/>
          <p:nvPr/>
        </p:nvSpPr>
        <p:spPr>
          <a:xfrm>
            <a:off x="3392555" y="111814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10.14” x Width: 7.92”)</a:t>
            </a:r>
          </a:p>
        </p:txBody>
      </p:sp>
      <p:sp>
        <p:nvSpPr>
          <p:cNvPr id="4" name="TextBox 3">
            <a:extLst>
              <a:ext uri="{FF2B5EF4-FFF2-40B4-BE49-F238E27FC236}">
                <a16:creationId xmlns:a16="http://schemas.microsoft.com/office/drawing/2014/main" id="{690A579D-C684-8669-D081-1CB3B51ABD8E}"/>
              </a:ext>
            </a:extLst>
          </p:cNvPr>
          <p:cNvSpPr txBox="1"/>
          <p:nvPr/>
        </p:nvSpPr>
        <p:spPr>
          <a:xfrm>
            <a:off x="3159140" y="3456249"/>
            <a:ext cx="3208757" cy="307777"/>
          </a:xfrm>
          <a:prstGeom prst="rect">
            <a:avLst/>
          </a:prstGeom>
          <a:noFill/>
          <a:ln w="3175">
            <a:noFill/>
          </a:ln>
        </p:spPr>
        <p:txBody>
          <a:bodyPr wrap="square" rtlCol="0">
            <a:spAutoFit/>
          </a:bodyPr>
          <a:lstStyle/>
          <a:p>
            <a:pPr algn="r"/>
            <a:r>
              <a:rPr lang="en-US" sz="1400" b="1">
                <a:solidFill>
                  <a:schemeClr val="accent5">
                    <a:lumMod val="10000"/>
                  </a:schemeClr>
                </a:solidFill>
                <a:effectLst>
                  <a:glow rad="101600">
                    <a:schemeClr val="bg1"/>
                  </a:glow>
                </a:effectLst>
              </a:rPr>
              <a:t>XXXXX</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dirty="0">
                <a:solidFill>
                  <a:schemeClr val="tx1"/>
                </a:solidFill>
                <a:ea typeface="Roboto"/>
                <a:cs typeface="Arial"/>
              </a:rPr>
              <a:t>Demographics</a:t>
            </a:r>
            <a:r>
              <a:rPr lang="en-US" sz="1400" dirty="0">
                <a:solidFill>
                  <a:schemeClr val="tx1"/>
                </a:solidFill>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dirty="0">
                <a:solidFill>
                  <a:schemeClr val="tx1"/>
                </a:solidFill>
                <a:ea typeface="Roboto"/>
                <a:cs typeface="Arial"/>
              </a:rPr>
              <a:t>Visitor Distance Traveled </a:t>
            </a:r>
            <a:r>
              <a:rPr lang="en-US" sz="1400" dirty="0">
                <a:solidFill>
                  <a:schemeClr val="tx1"/>
                </a:solidFill>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dirty="0">
                <a:solidFill>
                  <a:schemeClr val="tx1"/>
                </a:solidFill>
                <a:ea typeface="Roboto"/>
                <a:cs typeface="Arial"/>
              </a:rPr>
              <a:t>Visitor Frequency </a:t>
            </a:r>
            <a:r>
              <a:rPr lang="en-US" sz="1400" dirty="0">
                <a:solidFill>
                  <a:schemeClr val="tx1"/>
                </a:solidFill>
                <a:ea typeface="Roboto"/>
                <a:cs typeface="Arial"/>
              </a:rPr>
              <a:t>– the number of times the same device was seen at a given location during the tested 12-month period.  </a:t>
            </a:r>
            <a:endParaRPr lang="en-US" sz="1400" strike="sngStrike" dirty="0">
              <a:solidFill>
                <a:schemeClr val="tx1"/>
              </a:solidFill>
              <a:ea typeface="Roboto"/>
              <a:cs typeface="Arial"/>
            </a:endParaRPr>
          </a:p>
          <a:p>
            <a:pPr lvl="0">
              <a:spcBef>
                <a:spcPts val="1200"/>
              </a:spcBef>
              <a:buClr>
                <a:srgbClr val="267BC3"/>
              </a:buClr>
            </a:pPr>
            <a:r>
              <a:rPr lang="en-US" sz="1400" b="1" dirty="0">
                <a:solidFill>
                  <a:schemeClr val="tx1"/>
                </a:solidFill>
                <a:ea typeface="Roboto"/>
                <a:cs typeface="Arial"/>
              </a:rPr>
              <a:t>Visitor Duration </a:t>
            </a:r>
            <a:r>
              <a:rPr lang="en-US" sz="1400" dirty="0">
                <a:solidFill>
                  <a:schemeClr val="tx1"/>
                </a:solidFill>
                <a:ea typeface="Roboto"/>
                <a:cs typeface="Arial"/>
              </a:rPr>
              <a:t>– the duration between the first and last “pings” to the mobile application while at the location.</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Visitor Origin</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 Visitor Origin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Visitor Origin map. </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Visitor Origin Population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dirty="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nvGraphicFramePr>
        <p:xfrm>
          <a:off x="731520" y="1752600"/>
          <a:ext cx="11320272" cy="396240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Traveled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16358583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8023111"/>
                  </a:ext>
                </a:extLst>
              </a:tr>
              <a:tr h="301752">
                <a:tc>
                  <a:txBody>
                    <a:bodyPr/>
                    <a:lstStyle/>
                    <a:p>
                      <a:pPr algn="l" rtl="0" fontAlgn="ctr"/>
                      <a:r>
                        <a:rPr lang="en-US" sz="1000" b="1" i="0" u="none" strike="noStrike" dirty="0">
                          <a:solidFill>
                            <a:srgbClr val="000000"/>
                          </a:solidFill>
                          <a:effectLst/>
                          <a:latin typeface="Roboto" panose="02000000000000000000" pitchFamily="2" charset="0"/>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32</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980968989"/>
              </p:ext>
            </p:extLst>
          </p:nvPr>
        </p:nvGraphicFramePr>
        <p:xfrm>
          <a:off x="731034" y="1755648"/>
          <a:ext cx="11320273" cy="395935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nvGraphicFramePr>
        <p:xfrm>
          <a:off x="731034" y="1755648"/>
          <a:ext cx="11320271" cy="395935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mso-contentType ?>
<FormTemplates xmlns="http://schemas.microsoft.com/sharepoint/v3/contenttype/forms">
  <Display>DocumentLibraryForm</Display>
  <Edit>DocumentLibraryForm</Edit>
  <New>DocumentLibraryForm</New>
</FormTemplates>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EsriMapsInfo xmlns="ESRI.ArcGIS.Mapping.OfficeIntegration.PowerPointInfo">
  <Version>Version1</Version>
  <RequiresSignIn>False</RequiresSignIn>
</EsriMapsInfo>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EsriMapsInfo xmlns="ESRI.ArcGIS.Mapping.OfficeIntegration.PowerPointInfo">
  <Version>Version1</Version>
  <RequiresSignIn>False</RequiresSignIn>
</EsriMapsInfo>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2.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3.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4.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5.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6.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7.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8.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9.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10.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11.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12.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13.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14.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15.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16.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17.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18.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19.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20.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21.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22.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23.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24.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25.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26.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27.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28.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29.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30.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31.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32.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33.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34.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35.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36.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37.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38.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39.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40.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41.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42.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43.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44.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45.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46.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47.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48.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49.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50.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51.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52.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53.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54.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55.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56.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57.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58.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59.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60.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61.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62.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63.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64.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65.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66.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67.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68.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69.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70.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71.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72.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73.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74.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75.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76.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77.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78.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79.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80.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81.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82.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83.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84.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85.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86.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87.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88.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89.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90.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91.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92.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93.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94.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95.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96.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97.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98.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99.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100.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101.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102.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103.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104.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105.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106.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107.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108.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109.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110.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111.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112.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113.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114.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115.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116.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117.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118.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119.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120.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121.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122.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123.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124.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125.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126.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127.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128.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129.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130.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131.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132.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133.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134.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135.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136.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137.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138.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139.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140.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141.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142.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143.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144.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145.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146.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147.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148.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149.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150.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151.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152.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153.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154.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155.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156.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157.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158.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159.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160.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161.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162.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163.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164.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165.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166.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167.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168.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169.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170.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171.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172.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173.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174.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175.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76.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177.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178.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179.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180.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181.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182.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183.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184.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185.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186.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187.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188.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189.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190.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191.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192.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193.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194.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195.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196.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197.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198.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199.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200.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201.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202.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203.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204.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205.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206.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207.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208.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209.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210.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211.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212.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213.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214.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215.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216.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217.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218.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219.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220.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221.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222.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223.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224.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225.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226.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227.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228.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229.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230.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231.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232.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233.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234.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235.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236.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237.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238.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239.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240.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241.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242.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243.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244.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245.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246.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247.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248.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249.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250.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251.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252.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253.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254.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255.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256.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257.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258.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259.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260.xml><?xml version="1.0" encoding="utf-8"?>
<ds:datastoreItem xmlns:ds="http://schemas.openxmlformats.org/officeDocument/2006/customXml" ds:itemID="{10941E01-303E-4BE4-9E1E-D3A5C32448CC}">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1931</TotalTime>
  <Words>3006</Words>
  <Application>Microsoft Office PowerPoint</Application>
  <PresentationFormat>Custom</PresentationFormat>
  <Paragraphs>637</Paragraphs>
  <Slides>35</Slides>
  <Notes>1</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35</vt:i4>
      </vt:variant>
    </vt:vector>
  </HeadingPairs>
  <TitlesOfParts>
    <vt:vector size="46" baseType="lpstr">
      <vt:lpstr>Aptos</vt:lpstr>
      <vt:lpstr>Aptos Display</vt:lpstr>
      <vt:lpstr>Aptos Narrow</vt:lpstr>
      <vt:lpstr>Arial</vt:lpstr>
      <vt:lpstr>Calibri</vt:lpstr>
      <vt:lpstr>Lato Black</vt:lpstr>
      <vt:lpstr>Roboto</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DDANALYSIS12</vt:lpstr>
      <vt:lpstr>XXXXX Visitor Origin – Regional View</vt:lpstr>
      <vt:lpstr>XXXXX Most Trips – Local View</vt:lpstr>
      <vt:lpstr>ZIPANALYSIS15</vt:lpstr>
      <vt:lpstr>On-Site Visitor Behavior</vt:lpstr>
      <vt:lpstr>XXXXX Zone Analysis</vt:lpstr>
      <vt:lpstr>PowerPoint Presentation</vt:lpstr>
      <vt:lpstr>PowerPoint Presentation</vt:lpstr>
      <vt:lpstr>Competitive Landscape</vt:lpstr>
      <vt:lpstr>PowerPoint Presentation</vt:lpstr>
      <vt:lpstr>COMP Geographic Overlap</vt:lpstr>
      <vt:lpstr>Year-on-Year Comparison</vt:lpstr>
      <vt:lpstr>XXXXX Visitor: Where and Who FY 2023 vs. FY 2024</vt:lpstr>
      <vt:lpstr>PowerPoint Presentation</vt:lpstr>
      <vt:lpstr>Appendix</vt:lpstr>
      <vt:lpstr>TruTrade 5.0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163</cp:revision>
  <cp:lastPrinted>2021-09-02T15:36:20Z</cp:lastPrinted>
  <dcterms:created xsi:type="dcterms:W3CDTF">2019-03-01T18:53:51Z</dcterms:created>
  <dcterms:modified xsi:type="dcterms:W3CDTF">2025-11-24T12:47:40Z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