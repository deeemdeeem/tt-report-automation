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8" d="100"/>
          <a:sy n="128" d="100"/>
        </p:scale>
        <p:origin x="3396" y="330"/>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2/18/2026</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2/18/2026</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48" userDrawn="1">
          <p15:clr>
            <a:srgbClr val="FBAE40"/>
          </p15:clr>
        </p15:guide>
        <p15:guide id="2" pos="40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2026,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48" userDrawn="1">
          <p15:clr>
            <a:srgbClr val="F26B43"/>
          </p15:clr>
        </p15:guide>
        <p15:guide id="2" pos="403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2/18/2026</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February 18, 2026</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dirty="0">
                <a:solidFill>
                  <a:srgbClr val="273E6D"/>
                </a:solidFill>
                <a:latin typeface="+mj-lt"/>
                <a:cs typeface="Arial" panose="020B0604020202020204" pitchFamily="34" charset="0"/>
              </a:rPr>
              <a:t>Time period of the data: January 2024 – December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TRADE AREA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dirty="0">
                <a:solidFill>
                  <a:srgbClr val="0C0C0C"/>
                </a:solidFill>
                <a:latin typeface="Arial" panose="020B0604020202020204"/>
              </a:rPr>
              <a:t>ZIP5</a:t>
            </a: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2"/>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a:solidFill>
                  <a:srgbClr val="000000"/>
                </a:solidFill>
              </a:rPr>
              <a:t>XXXXX</a:t>
            </a:r>
            <a:endParaRPr lang="en-US" sz="2800"/>
          </a:p>
          <a:p>
            <a:r>
              <a:rPr lang="en-US" sz="2800">
                <a:solidFill>
                  <a:srgbClr val="000000"/>
                </a:solidFill>
              </a:rPr>
              <a:t>Visitor Lifestyles</a:t>
            </a:r>
            <a:endParaRPr lang="en-US" sz="280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2828631403"/>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Trade Area Population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269767553"/>
              </p:ext>
            </p:extLst>
          </p:nvPr>
        </p:nvGraphicFramePr>
        <p:xfrm>
          <a:off x="740665" y="1676400"/>
          <a:ext cx="11320271" cy="502920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369332"/>
          </a:xfrm>
          <a:prstGeom prst="rect">
            <a:avLst/>
          </a:prstGeom>
          <a:noFill/>
        </p:spPr>
        <p:txBody>
          <a:bodyPr wrap="square" rtlCol="0">
            <a:spAutoFit/>
          </a:bodyPr>
          <a:lstStyle/>
          <a:p>
            <a:r>
              <a:rPr lang="en-US" sz="900" b="1" dirty="0"/>
              <a:t>Average Duration – AVGDUR19</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369332"/>
          </a:xfrm>
          <a:prstGeom prst="rect">
            <a:avLst/>
          </a:prstGeom>
          <a:noFill/>
        </p:spPr>
        <p:txBody>
          <a:bodyPr wrap="square" rtlCol="0">
            <a:spAutoFit/>
          </a:bodyPr>
          <a:lstStyle/>
          <a:p>
            <a:r>
              <a:rPr lang="en-US" sz="900" b="1" dirty="0"/>
              <a:t>Average Annual Frequency – AVGFREQ10</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dirty="0">
                <a:solidFill>
                  <a:srgbClr val="000000"/>
                </a:solidFill>
              </a:rPr>
              <a:t>Avg Distance</a:t>
            </a:r>
          </a:p>
          <a:p>
            <a:pPr marL="0" indent="0">
              <a:buNone/>
            </a:pPr>
            <a:r>
              <a:rPr lang="en-US" sz="1200" b="1">
                <a:solidFill>
                  <a:srgbClr val="000000"/>
                </a:solidFill>
              </a:rPr>
              <a:t>(All </a:t>
            </a:r>
            <a:r>
              <a:rPr lang="en-US" sz="1200" b="1" dirty="0">
                <a:solidFill>
                  <a:srgbClr val="000000"/>
                </a:solidFill>
              </a:rPr>
              <a:t>Visitors)</a:t>
            </a:r>
            <a:endParaRPr lang="en-US" sz="1200" dirty="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YOYZIPPrevSUM</a:t>
            </a:r>
            <a:r>
              <a:rPr lang="en-US" sz="1800" dirty="0">
                <a:solidFill>
                  <a:srgbClr val="000000"/>
                </a:solidFill>
              </a:rPr>
              <a:t>%</a:t>
            </a:r>
            <a:endParaRPr lang="en-US" sz="1800" dirty="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YOYZIPPresSUM</a:t>
            </a:r>
            <a:r>
              <a:rPr lang="en-US" sz="1800" dirty="0">
                <a:solidFill>
                  <a:srgbClr val="000000"/>
                </a:solidFill>
              </a:rPr>
              <a:t>%</a:t>
            </a:r>
            <a:endParaRPr lang="en-US" sz="1800" dirty="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1360191074"/>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YOYPresPop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lang="en-US" sz="1800" b="0" i="0" u="none" strike="noStrike" dirty="0">
                          <a:solidFill>
                            <a:srgbClr val="000000"/>
                          </a:solidFill>
                          <a:effectLst/>
                          <a:latin typeface="Roboto" panose="02000000000000000000" pitchFamily="2" charset="0"/>
                        </a:rPr>
                        <a:t>YOYPrevM4</a:t>
                      </a: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YOYPresM4</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785653106"/>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dirty="0">
                          <a:solidFill>
                            <a:srgbClr val="000000"/>
                          </a:solidFill>
                          <a:effectLst/>
                          <a:latin typeface="Calibri" panose="020F0502020204030204" pitchFamily="34" charset="0"/>
                        </a:rPr>
                        <a:t>ZIP1</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1146374493"/>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dirty="0">
                          <a:solidFill>
                            <a:srgbClr val="000000"/>
                          </a:solidFill>
                          <a:effectLst/>
                          <a:latin typeface="Calibri" panose="020F0502020204030204" pitchFamily="34" charset="0"/>
                        </a:rPr>
                        <a:t>PrevZIP1</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YOYPrevM7%</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YOYPresM7</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algn="ctr"/>
            <a:r>
              <a:rPr lang="en-US" sz="1800">
                <a:solidFill>
                  <a:srgbClr val="000000"/>
                </a:solidFill>
                <a:latin typeface="Roboto" panose="02000000000000000000" pitchFamily="2" charset="0"/>
              </a:rPr>
              <a:t>YOYPrevM9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737108" y="1428338"/>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
        <p:nvSpPr>
          <p:cNvPr id="4" name="TextBox 3">
            <a:extLst>
              <a:ext uri="{FF2B5EF4-FFF2-40B4-BE49-F238E27FC236}">
                <a16:creationId xmlns:a16="http://schemas.microsoft.com/office/drawing/2014/main" id="{690A579D-C684-8669-D081-1CB3B51ABD8E}"/>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Trade Area Population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Trade Area Population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extLst>
              <p:ext uri="{D42A27DB-BD31-4B8C-83A1-F6EECF244321}">
                <p14:modId xmlns:p14="http://schemas.microsoft.com/office/powerpoint/2010/main" val="695281481"/>
              </p:ext>
            </p:extLst>
          </p:nvPr>
        </p:nvGraphicFramePr>
        <p:xfrm>
          <a:off x="731520" y="1752600"/>
          <a:ext cx="11320272" cy="94488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a:t>
                      </a:r>
                      <a:r>
                        <a:rPr lang="en-US" sz="1000" b="1" i="0" u="none" strike="noStrike" dirty="0" err="1">
                          <a:solidFill>
                            <a:srgbClr val="FFFFFF"/>
                          </a:solidFill>
                          <a:effectLst/>
                          <a:latin typeface="+mn-lt"/>
                        </a:rPr>
                        <a:t>Travele</a:t>
                      </a:r>
                      <a:r>
                        <a:rPr lang="en-US" sz="1000" b="1" i="0" u="none" strike="noStrike" dirty="0">
                          <a:solidFill>
                            <a:srgbClr val="FFFFFF"/>
                          </a:solidFill>
                          <a:effectLst/>
                          <a:latin typeface="+mn-lt"/>
                        </a:rPr>
                        <a:t> </a:t>
                      </a:r>
                      <a:r>
                        <a:rPr lang="en-US" sz="1000" b="1" i="0" u="none" strike="noStrike" dirty="0" err="1">
                          <a:solidFill>
                            <a:srgbClr val="FFFFFF"/>
                          </a:solidFill>
                          <a:effectLst/>
                          <a:latin typeface="+mn-lt"/>
                        </a:rPr>
                        <a:t>aad</a:t>
                      </a:r>
                      <a:r>
                        <a:rPr lang="en-US" sz="1000" b="1" i="0" u="none" strike="noStrike" dirty="0">
                          <a:solidFill>
                            <a:srgbClr val="FFFFFF"/>
                          </a:solidFill>
                          <a:effectLst/>
                          <a:latin typeface="+mn-lt"/>
                        </a:rPr>
                        <a:t>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2296246096"/>
              </p:ext>
            </p:extLst>
          </p:nvPr>
        </p:nvGraphicFramePr>
        <p:xfrm>
          <a:off x="731034" y="1755648"/>
          <a:ext cx="11320273" cy="94183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691513079"/>
              </p:ext>
            </p:extLst>
          </p:nvPr>
        </p:nvGraphicFramePr>
        <p:xfrm>
          <a:off x="731034" y="1755648"/>
          <a:ext cx="11320271" cy="94183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mso-contentType ?>
<FormTemplates xmlns="http://schemas.microsoft.com/sharepoint/v3/contenttype/forms">
  <Display>DocumentLibraryForm</Display>
  <Edit>DocumentLibraryForm</Edit>
  <New>DocumentLibraryForm</New>
</FormTemplates>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3.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4.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5.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6.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7.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8.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9.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10.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1.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12.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13.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14.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5.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6.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7.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18.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19.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20.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21.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22.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3.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4.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25.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26.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27.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28.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29.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30.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31.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32.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33.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34.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35.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36.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37.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38.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39.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40.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41.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42.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43.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44.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45.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46.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47.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48.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49.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50.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51.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52.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53.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54.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55.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56.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57.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58.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59.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60.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61.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62.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63.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64.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65.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66.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67.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68.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69.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70.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71.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72.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7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74.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75.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76.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77.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78.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79.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80.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81.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82.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83.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84.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85.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86.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87.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88.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89.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90.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91.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92.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93.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94.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95.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96.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97.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98.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99.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00.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01.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102.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03.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04.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105.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06.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07.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108.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09.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110.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11.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12.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13.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14.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15.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16.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117.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18.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119.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20.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121.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122.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23.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24.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25.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126.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27.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128.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29.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30.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31.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132.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33.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134.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35.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36.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137.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38.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139.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140.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141.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42.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43.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144.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45.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146.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47.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148.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49.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150.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51.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152.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53.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154.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55.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56.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157.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158.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59.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60.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61.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62.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63.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64.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65.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66.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167.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68.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69.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70.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171.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172.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73.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74.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75.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76.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77.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78.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79.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180.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81.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182.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83.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84.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185.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86.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87.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88.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189.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90.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91.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192.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93.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194.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95.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196.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97.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98.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99.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00.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01.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202.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203.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204.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205.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06.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207.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08.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09.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210.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11.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212.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213.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214.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215.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216.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217.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18.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219.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220.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21.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222.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223.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224.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225.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226.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227.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228.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229.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230.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31.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232.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33.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234.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235.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36.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237.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38.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39.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240.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241.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242.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243.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44.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245.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46.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247.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248.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49.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250.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251.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252.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253.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254.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255.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256.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257.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258.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59.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260.xml><?xml version="1.0" encoding="utf-8"?>
<ds:datastoreItem xmlns:ds="http://schemas.openxmlformats.org/officeDocument/2006/customXml" ds:itemID="{969C3D20-52B4-4B3B-A137-2306E60814F5}">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2006</TotalTime>
  <Words>2927</Words>
  <Application>Microsoft Office PowerPoint</Application>
  <PresentationFormat>Custom</PresentationFormat>
  <Paragraphs>632</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Trade Area Population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176</cp:revision>
  <cp:lastPrinted>2021-09-02T15:36:20Z</cp:lastPrinted>
  <dcterms:created xsi:type="dcterms:W3CDTF">2019-03-01T18:53:51Z</dcterms:created>
  <dcterms:modified xsi:type="dcterms:W3CDTF">2026-02-18T13:43:45Z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