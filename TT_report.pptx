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theme/themeOverride1.xml" ContentType="application/vnd.openxmlformats-officedocument.themeOverride+xml"/>
  <Override PartName="/ppt/notesSlides/notesSlide1.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32" y="774"/>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2"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1.xml"/><Relationship Id="rId1" Type="http://schemas.microsoft.com/office/2011/relationships/chartStyle" Target="style1.xml"/></Relationships>
</file>

<file path=ppt/charts/_rels/chart3.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42089708876316467"/>
          <c:y val="0.1098155617376485"/>
          <c:w val="0.51231965123676881"/>
          <c:h val="0.78036887652470299"/>
        </c:manualLayout>
      </c:layout>
      <c:barChart>
        <c:barDir val="bar"/>
        <c:grouping val="clustered"/>
        <c:varyColors val="0"/>
        <c:ser>
          <c:idx val="0"/>
          <c:order val="0"/>
          <c:spPr>
            <a:solidFill>
              <a:schemeClr val="tx2"/>
            </a:solidFill>
            <a:ln>
              <a:noFill/>
            </a:ln>
            <a:effectLst/>
          </c:spPr>
          <c:invertIfNegative val="0"/>
          <c:dLbls>
            <c:dLbl>
              <c:idx val="0"/>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9FA6-47D1-BD19-BBB52407D4D5}"/>
                </c:ext>
              </c:extLst>
            </c:dLbl>
            <c:dLbl>
              <c:idx val="1"/>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9FA6-47D1-BD19-BBB52407D4D5}"/>
                </c:ext>
              </c:extLst>
            </c:dLbl>
            <c:dLbl>
              <c:idx val="2"/>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9FA6-47D1-BD19-BBB52407D4D5}"/>
                </c:ext>
              </c:extLst>
            </c:dLbl>
            <c:spPr>
              <a:noFill/>
              <a:ln>
                <a:noFill/>
              </a:ln>
              <a:effectLst/>
            </c:spPr>
            <c:txPr>
              <a:bodyPr rot="0" vert="horz"/>
              <a:lstStyle/>
              <a:p>
                <a:pP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DrawDemo!$V$24:$V$28</c:f>
              <c:strCache>
                <c:ptCount val="5"/>
                <c:pt idx="0">
                  <c:v>African-American/Black</c:v>
                </c:pt>
                <c:pt idx="1">
                  <c:v>Other</c:v>
                </c:pt>
                <c:pt idx="2">
                  <c:v>Asian</c:v>
                </c:pt>
                <c:pt idx="3">
                  <c:v>Hispanic/Latino</c:v>
                </c:pt>
                <c:pt idx="4">
                  <c:v>Caucasian/White</c:v>
                </c:pt>
              </c:strCache>
            </c:strRef>
          </c:cat>
          <c:val>
            <c:numRef>
              <c:f>DrawDemo!$W$24:$W$28</c:f>
              <c:numCache>
                <c:formatCode>0%</c:formatCode>
                <c:ptCount val="5"/>
                <c:pt idx="0">
                  <c:v>0.05</c:v>
                </c:pt>
                <c:pt idx="1">
                  <c:v>5.04E-2</c:v>
                </c:pt>
                <c:pt idx="2">
                  <c:v>7.9699999999999993E-2</c:v>
                </c:pt>
                <c:pt idx="3">
                  <c:v>0.26140000000000002</c:v>
                </c:pt>
                <c:pt idx="4">
                  <c:v>0.55840000000000001</c:v>
                </c:pt>
              </c:numCache>
            </c:numRef>
          </c:val>
          <c:extLst>
            <c:ext xmlns:c16="http://schemas.microsoft.com/office/drawing/2014/chart" uri="{C3380CC4-5D6E-409C-BE32-E72D297353CC}">
              <c16:uniqueId val="{00000005-9FA6-47D1-BD19-BBB52407D4D5}"/>
            </c:ext>
          </c:extLst>
        </c:ser>
        <c:dLbls>
          <c:showLegendKey val="0"/>
          <c:showVal val="0"/>
          <c:showCatName val="0"/>
          <c:showSerName val="0"/>
          <c:showPercent val="0"/>
          <c:showBubbleSize val="0"/>
        </c:dLbls>
        <c:gapWidth val="10"/>
        <c:axId val="487748287"/>
        <c:axId val="482576239"/>
      </c:barChart>
      <c:catAx>
        <c:axId val="487748287"/>
        <c:scaling>
          <c:orientation val="minMax"/>
        </c:scaling>
        <c:delete val="0"/>
        <c:axPos val="l"/>
        <c:numFmt formatCode="General" sourceLinked="1"/>
        <c:majorTickMark val="out"/>
        <c:minorTickMark val="none"/>
        <c:tickLblPos val="nextTo"/>
        <c:spPr>
          <a:ln>
            <a:noFill/>
          </a:ln>
        </c:spPr>
        <c:crossAx val="482576239"/>
        <c:crosses val="autoZero"/>
        <c:auto val="1"/>
        <c:lblAlgn val="l"/>
        <c:lblOffset val="100"/>
        <c:noMultiLvlLbl val="0"/>
      </c:catAx>
      <c:valAx>
        <c:axId val="482576239"/>
        <c:scaling>
          <c:orientation val="minMax"/>
        </c:scaling>
        <c:delete val="1"/>
        <c:axPos val="b"/>
        <c:numFmt formatCode="0%" sourceLinked="1"/>
        <c:majorTickMark val="out"/>
        <c:minorTickMark val="none"/>
        <c:tickLblPos val="nextTo"/>
        <c:crossAx val="487748287"/>
        <c:crosses val="autoZero"/>
        <c:crossBetween val="between"/>
      </c:valAx>
      <c:spPr>
        <a:noFill/>
        <a:ln>
          <a:noFill/>
        </a:ln>
        <a:effectLst/>
      </c:spPr>
    </c:plotArea>
    <c:plotVisOnly val="1"/>
    <c:dispBlanksAs val="gap"/>
    <c:showDLblsOverMax val="0"/>
  </c:chart>
  <c:spPr>
    <a:noFill/>
    <a:ln>
      <a:noFill/>
    </a:ln>
    <a:effectLst/>
  </c:spPr>
  <c:txPr>
    <a:bodyPr/>
    <a:lstStyle/>
    <a:p>
      <a:pPr>
        <a:defRPr sz="11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773313888131043E-2"/>
          <c:y val="0"/>
          <c:w val="0.85882654720515961"/>
          <c:h val="1"/>
        </c:manualLayout>
      </c:layout>
      <c:barChart>
        <c:barDir val="bar"/>
        <c:grouping val="clustered"/>
        <c:varyColors val="0"/>
        <c:ser>
          <c:idx val="0"/>
          <c:order val="0"/>
          <c:spPr>
            <a:solidFill>
              <a:srgbClr val="00B050"/>
            </a:solidFill>
            <a:ln>
              <a:noFill/>
            </a:ln>
            <a:effectLst/>
          </c:spPr>
          <c:invertIfNegative val="0"/>
          <c:dPt>
            <c:idx val="0"/>
            <c:invertIfNegative val="0"/>
            <c:bubble3D val="0"/>
            <c:spPr>
              <a:solidFill>
                <a:srgbClr val="00B050"/>
              </a:solidFill>
              <a:ln>
                <a:noFill/>
              </a:ln>
              <a:effectLst/>
            </c:spPr>
            <c:extLst>
              <c:ext xmlns:c16="http://schemas.microsoft.com/office/drawing/2014/chart" uri="{C3380CC4-5D6E-409C-BE32-E72D297353CC}">
                <c16:uniqueId val="{00000001-84A2-42A7-9ABB-2BB38D61E86E}"/>
              </c:ext>
            </c:extLst>
          </c:dPt>
          <c:dPt>
            <c:idx val="1"/>
            <c:invertIfNegative val="0"/>
            <c:bubble3D val="0"/>
            <c:extLst>
              <c:ext xmlns:c16="http://schemas.microsoft.com/office/drawing/2014/chart" uri="{C3380CC4-5D6E-409C-BE32-E72D297353CC}">
                <c16:uniqueId val="{00000003-84A2-42A7-9ABB-2BB38D61E86E}"/>
              </c:ext>
            </c:extLst>
          </c:dPt>
          <c:dPt>
            <c:idx val="2"/>
            <c:invertIfNegative val="0"/>
            <c:bubble3D val="0"/>
            <c:spPr>
              <a:solidFill>
                <a:srgbClr val="FF0000"/>
              </a:solidFill>
              <a:ln>
                <a:noFill/>
              </a:ln>
              <a:effectLst/>
            </c:spPr>
            <c:extLst>
              <c:ext xmlns:c16="http://schemas.microsoft.com/office/drawing/2014/chart" uri="{C3380CC4-5D6E-409C-BE32-E72D297353CC}">
                <c16:uniqueId val="{00000005-84A2-42A7-9ABB-2BB38D61E86E}"/>
              </c:ext>
            </c:extLst>
          </c:dPt>
          <c:dPt>
            <c:idx val="3"/>
            <c:invertIfNegative val="0"/>
            <c:bubble3D val="0"/>
            <c:extLst>
              <c:ext xmlns:c16="http://schemas.microsoft.com/office/drawing/2014/chart" uri="{C3380CC4-5D6E-409C-BE32-E72D297353CC}">
                <c16:uniqueId val="{00000007-84A2-42A7-9ABB-2BB38D61E86E}"/>
              </c:ext>
            </c:extLst>
          </c:dPt>
          <c:dPt>
            <c:idx val="4"/>
            <c:invertIfNegative val="0"/>
            <c:bubble3D val="0"/>
            <c:extLst>
              <c:ext xmlns:c16="http://schemas.microsoft.com/office/drawing/2014/chart" uri="{C3380CC4-5D6E-409C-BE32-E72D297353CC}">
                <c16:uniqueId val="{00000009-84A2-42A7-9ABB-2BB38D61E86E}"/>
              </c:ext>
            </c:extLst>
          </c:dPt>
          <c:dPt>
            <c:idx val="5"/>
            <c:invertIfNegative val="0"/>
            <c:bubble3D val="0"/>
            <c:extLst>
              <c:ext xmlns:c16="http://schemas.microsoft.com/office/drawing/2014/chart" uri="{C3380CC4-5D6E-409C-BE32-E72D297353CC}">
                <c16:uniqueId val="{0000000B-84A2-42A7-9ABB-2BB38D61E86E}"/>
              </c:ext>
            </c:extLst>
          </c:dPt>
          <c:dPt>
            <c:idx val="6"/>
            <c:invertIfNegative val="0"/>
            <c:bubble3D val="0"/>
            <c:extLst>
              <c:ext xmlns:c16="http://schemas.microsoft.com/office/drawing/2014/chart" uri="{C3380CC4-5D6E-409C-BE32-E72D297353CC}">
                <c16:uniqueId val="{0000000D-84A2-42A7-9ABB-2BB38D61E86E}"/>
              </c:ext>
            </c:extLst>
          </c:dPt>
          <c:dPt>
            <c:idx val="7"/>
            <c:invertIfNegative val="0"/>
            <c:bubble3D val="0"/>
            <c:spPr>
              <a:solidFill>
                <a:srgbClr val="FF0000"/>
              </a:solidFill>
              <a:ln>
                <a:noFill/>
              </a:ln>
              <a:effectLst/>
            </c:spPr>
            <c:extLst>
              <c:ext xmlns:c16="http://schemas.microsoft.com/office/drawing/2014/chart" uri="{C3380CC4-5D6E-409C-BE32-E72D297353CC}">
                <c16:uniqueId val="{0000000F-84A2-42A7-9ABB-2BB38D61E86E}"/>
              </c:ext>
            </c:extLst>
          </c:dPt>
          <c:dPt>
            <c:idx val="8"/>
            <c:invertIfNegative val="0"/>
            <c:bubble3D val="0"/>
            <c:spPr>
              <a:solidFill>
                <a:srgbClr val="FF0000"/>
              </a:solidFill>
              <a:ln>
                <a:noFill/>
              </a:ln>
              <a:effectLst/>
            </c:spPr>
            <c:extLst>
              <c:ext xmlns:c16="http://schemas.microsoft.com/office/drawing/2014/chart" uri="{C3380CC4-5D6E-409C-BE32-E72D297353CC}">
                <c16:uniqueId val="{00000011-84A2-42A7-9ABB-2BB38D61E86E}"/>
              </c:ext>
            </c:extLst>
          </c:dPt>
          <c:dPt>
            <c:idx val="9"/>
            <c:invertIfNegative val="0"/>
            <c:bubble3D val="0"/>
            <c:spPr>
              <a:solidFill>
                <a:srgbClr val="00B050"/>
              </a:solidFill>
              <a:ln>
                <a:noFill/>
              </a:ln>
              <a:effectLst/>
            </c:spPr>
            <c:extLst>
              <c:ext xmlns:c16="http://schemas.microsoft.com/office/drawing/2014/chart" uri="{C3380CC4-5D6E-409C-BE32-E72D297353CC}">
                <c16:uniqueId val="{00000013-84A2-42A7-9ABB-2BB38D61E86E}"/>
              </c:ext>
            </c:extLst>
          </c:dPt>
          <c:dPt>
            <c:idx val="10"/>
            <c:invertIfNegative val="0"/>
            <c:bubble3D val="0"/>
            <c:extLst>
              <c:ext xmlns:c16="http://schemas.microsoft.com/office/drawing/2014/chart" uri="{C3380CC4-5D6E-409C-BE32-E72D297353CC}">
                <c16:uniqueId val="{00000015-84A2-42A7-9ABB-2BB38D61E86E}"/>
              </c:ext>
            </c:extLst>
          </c:dPt>
          <c:dPt>
            <c:idx val="11"/>
            <c:invertIfNegative val="0"/>
            <c:bubble3D val="0"/>
            <c:extLst>
              <c:ext xmlns:c16="http://schemas.microsoft.com/office/drawing/2014/chart" uri="{C3380CC4-5D6E-409C-BE32-E72D297353CC}">
                <c16:uniqueId val="{00000017-84A2-42A7-9ABB-2BB38D61E86E}"/>
              </c:ext>
            </c:extLst>
          </c:dPt>
          <c:dPt>
            <c:idx val="12"/>
            <c:invertIfNegative val="0"/>
            <c:bubble3D val="0"/>
            <c:extLst>
              <c:ext xmlns:c16="http://schemas.microsoft.com/office/drawing/2014/chart" uri="{C3380CC4-5D6E-409C-BE32-E72D297353CC}">
                <c16:uniqueId val="{00000019-84A2-42A7-9ABB-2BB38D61E86E}"/>
              </c:ext>
            </c:extLst>
          </c:dPt>
          <c:dPt>
            <c:idx val="13"/>
            <c:invertIfNegative val="0"/>
            <c:bubble3D val="0"/>
            <c:spPr>
              <a:solidFill>
                <a:srgbClr val="FF0000"/>
              </a:solidFill>
              <a:ln>
                <a:noFill/>
              </a:ln>
              <a:effectLst/>
            </c:spPr>
            <c:extLst>
              <c:ext xmlns:c16="http://schemas.microsoft.com/office/drawing/2014/chart" uri="{C3380CC4-5D6E-409C-BE32-E72D297353CC}">
                <c16:uniqueId val="{0000001B-84A2-42A7-9ABB-2BB38D61E86E}"/>
              </c:ext>
            </c:extLst>
          </c:dPt>
          <c:dPt>
            <c:idx val="14"/>
            <c:invertIfNegative val="0"/>
            <c:bubble3D val="0"/>
            <c:spPr>
              <a:solidFill>
                <a:srgbClr val="FF0000"/>
              </a:solidFill>
              <a:ln>
                <a:noFill/>
              </a:ln>
              <a:effectLst/>
            </c:spPr>
            <c:extLst>
              <c:ext xmlns:c16="http://schemas.microsoft.com/office/drawing/2014/chart" uri="{C3380CC4-5D6E-409C-BE32-E72D297353CC}">
                <c16:uniqueId val="{0000001D-84A2-42A7-9ABB-2BB38D61E86E}"/>
              </c:ext>
            </c:extLst>
          </c:dPt>
          <c:dPt>
            <c:idx val="15"/>
            <c:invertIfNegative val="0"/>
            <c:bubble3D val="0"/>
            <c:spPr>
              <a:solidFill>
                <a:srgbClr val="FF0000"/>
              </a:solidFill>
              <a:ln>
                <a:noFill/>
              </a:ln>
              <a:effectLst/>
            </c:spPr>
            <c:extLst>
              <c:ext xmlns:c16="http://schemas.microsoft.com/office/drawing/2014/chart" uri="{C3380CC4-5D6E-409C-BE32-E72D297353CC}">
                <c16:uniqueId val="{0000001F-84A2-42A7-9ABB-2BB38D61E86E}"/>
              </c:ext>
            </c:extLst>
          </c:dPt>
          <c:dPt>
            <c:idx val="16"/>
            <c:invertIfNegative val="0"/>
            <c:bubble3D val="0"/>
            <c:extLst>
              <c:ext xmlns:c16="http://schemas.microsoft.com/office/drawing/2014/chart" uri="{C3380CC4-5D6E-409C-BE32-E72D297353CC}">
                <c16:uniqueId val="{00000021-84A2-42A7-9ABB-2BB38D61E86E}"/>
              </c:ext>
            </c:extLst>
          </c:dPt>
          <c:dPt>
            <c:idx val="17"/>
            <c:invertIfNegative val="0"/>
            <c:bubble3D val="0"/>
            <c:extLst>
              <c:ext xmlns:c16="http://schemas.microsoft.com/office/drawing/2014/chart" uri="{C3380CC4-5D6E-409C-BE32-E72D297353CC}">
                <c16:uniqueId val="{00000023-84A2-42A7-9ABB-2BB38D61E86E}"/>
              </c:ext>
            </c:extLst>
          </c:dPt>
          <c:dPt>
            <c:idx val="18"/>
            <c:invertIfNegative val="0"/>
            <c:bubble3D val="0"/>
            <c:extLst>
              <c:ext xmlns:c16="http://schemas.microsoft.com/office/drawing/2014/chart" uri="{C3380CC4-5D6E-409C-BE32-E72D297353CC}">
                <c16:uniqueId val="{00000025-84A2-42A7-9ABB-2BB38D61E86E}"/>
              </c:ext>
            </c:extLst>
          </c:dPt>
          <c:dPt>
            <c:idx val="19"/>
            <c:invertIfNegative val="0"/>
            <c:bubble3D val="0"/>
            <c:extLst>
              <c:ext xmlns:c16="http://schemas.microsoft.com/office/drawing/2014/chart" uri="{C3380CC4-5D6E-409C-BE32-E72D297353CC}">
                <c16:uniqueId val="{00000027-84A2-42A7-9ABB-2BB38D61E86E}"/>
              </c:ext>
            </c:extLst>
          </c:dPt>
          <c:dPt>
            <c:idx val="20"/>
            <c:invertIfNegative val="0"/>
            <c:bubble3D val="0"/>
            <c:extLst>
              <c:ext xmlns:c16="http://schemas.microsoft.com/office/drawing/2014/chart" uri="{C3380CC4-5D6E-409C-BE32-E72D297353CC}">
                <c16:uniqueId val="{00000029-84A2-42A7-9ABB-2BB38D61E86E}"/>
              </c:ext>
            </c:extLst>
          </c:dPt>
          <c:dPt>
            <c:idx val="21"/>
            <c:invertIfNegative val="0"/>
            <c:bubble3D val="0"/>
            <c:spPr>
              <a:solidFill>
                <a:srgbClr val="FF0000"/>
              </a:solidFill>
              <a:ln>
                <a:noFill/>
              </a:ln>
              <a:effectLst/>
            </c:spPr>
            <c:extLst>
              <c:ext xmlns:c16="http://schemas.microsoft.com/office/drawing/2014/chart" uri="{C3380CC4-5D6E-409C-BE32-E72D297353CC}">
                <c16:uniqueId val="{0000002B-84A2-42A7-9ABB-2BB38D61E86E}"/>
              </c:ext>
            </c:extLst>
          </c:dPt>
          <c:dPt>
            <c:idx val="22"/>
            <c:invertIfNegative val="0"/>
            <c:bubble3D val="0"/>
            <c:spPr>
              <a:solidFill>
                <a:srgbClr val="FF0000"/>
              </a:solidFill>
              <a:ln>
                <a:noFill/>
              </a:ln>
              <a:effectLst/>
            </c:spPr>
            <c:extLst>
              <c:ext xmlns:c16="http://schemas.microsoft.com/office/drawing/2014/chart" uri="{C3380CC4-5D6E-409C-BE32-E72D297353CC}">
                <c16:uniqueId val="{0000002D-84A2-42A7-9ABB-2BB38D61E86E}"/>
              </c:ext>
            </c:extLst>
          </c:dPt>
          <c:dPt>
            <c:idx val="23"/>
            <c:invertIfNegative val="0"/>
            <c:bubble3D val="0"/>
            <c:extLst>
              <c:ext xmlns:c16="http://schemas.microsoft.com/office/drawing/2014/chart" uri="{C3380CC4-5D6E-409C-BE32-E72D297353CC}">
                <c16:uniqueId val="{0000002F-84A2-42A7-9ABB-2BB38D61E86E}"/>
              </c:ext>
            </c:extLst>
          </c:dPt>
          <c:dPt>
            <c:idx val="24"/>
            <c:invertIfNegative val="0"/>
            <c:bubble3D val="0"/>
            <c:spPr>
              <a:solidFill>
                <a:srgbClr val="FF0000"/>
              </a:solidFill>
              <a:ln>
                <a:noFill/>
              </a:ln>
              <a:effectLst/>
            </c:spPr>
            <c:extLst>
              <c:ext xmlns:c16="http://schemas.microsoft.com/office/drawing/2014/chart" uri="{C3380CC4-5D6E-409C-BE32-E72D297353CC}">
                <c16:uniqueId val="{00000031-84A2-42A7-9ABB-2BB38D61E86E}"/>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2">
                        <a:lumMod val="10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MileageDemo!$Q$4:$Q$28</c:f>
              <c:numCache>
                <c:formatCode>0</c:formatCode>
                <c:ptCount val="25"/>
                <c:pt idx="0">
                  <c:v>200</c:v>
                </c:pt>
                <c:pt idx="1">
                  <c:v>142.85714285714286</c:v>
                </c:pt>
                <c:pt idx="2">
                  <c:v>73.521126760563376</c:v>
                </c:pt>
                <c:pt idx="3">
                  <c:v>121.95121951219512</c:v>
                </c:pt>
                <c:pt idx="4">
                  <c:v>106.48854961832062</c:v>
                </c:pt>
                <c:pt idx="5">
                  <c:v>107.14285714285714</c:v>
                </c:pt>
                <c:pt idx="6">
                  <c:v>108.73493975903614</c:v>
                </c:pt>
                <c:pt idx="7">
                  <c:v>93.965517241379303</c:v>
                </c:pt>
                <c:pt idx="8">
                  <c:v>88.28451882845188</c:v>
                </c:pt>
                <c:pt idx="9">
                  <c:v>167.08860759493675</c:v>
                </c:pt>
                <c:pt idx="10">
                  <c:v>117.79781080520138</c:v>
                </c:pt>
                <c:pt idx="11">
                  <c:v>160.17699115044246</c:v>
                </c:pt>
                <c:pt idx="12">
                  <c:v>121.02272727272727</c:v>
                </c:pt>
                <c:pt idx="13">
                  <c:v>92.857142857142861</c:v>
                </c:pt>
                <c:pt idx="14">
                  <c:v>75.151515151515142</c:v>
                </c:pt>
                <c:pt idx="15">
                  <c:v>59.934853420195445</c:v>
                </c:pt>
                <c:pt idx="16">
                  <c:v>105.8411214953271</c:v>
                </c:pt>
                <c:pt idx="17">
                  <c:v>122.90076335877862</c:v>
                </c:pt>
                <c:pt idx="18">
                  <c:v>114.70588235294117</c:v>
                </c:pt>
                <c:pt idx="19">
                  <c:v>116.23376623376622</c:v>
                </c:pt>
                <c:pt idx="20">
                  <c:v>104.14507772020724</c:v>
                </c:pt>
                <c:pt idx="21">
                  <c:v>85.046728971962608</c:v>
                </c:pt>
                <c:pt idx="22">
                  <c:v>70.348837209302332</c:v>
                </c:pt>
              </c:numCache>
            </c:numRef>
          </c:val>
          <c:extLst>
            <c:ext xmlns:c16="http://schemas.microsoft.com/office/drawing/2014/chart" uri="{C3380CC4-5D6E-409C-BE32-E72D297353CC}">
              <c16:uniqueId val="{00000032-84A2-42A7-9ABB-2BB38D61E86E}"/>
            </c:ext>
          </c:extLst>
        </c:ser>
        <c:dLbls>
          <c:showLegendKey val="0"/>
          <c:showVal val="0"/>
          <c:showCatName val="0"/>
          <c:showSerName val="0"/>
          <c:showPercent val="0"/>
          <c:showBubbleSize val="0"/>
        </c:dLbls>
        <c:gapWidth val="182"/>
        <c:axId val="2032768144"/>
        <c:axId val="2138993600"/>
      </c:barChart>
      <c:catAx>
        <c:axId val="2032768144"/>
        <c:scaling>
          <c:orientation val="minMax"/>
        </c:scaling>
        <c:delete val="1"/>
        <c:axPos val="l"/>
        <c:majorTickMark val="none"/>
        <c:minorTickMark val="none"/>
        <c:tickLblPos val="nextTo"/>
        <c:crossAx val="2138993600"/>
        <c:crosses val="autoZero"/>
        <c:auto val="1"/>
        <c:lblAlgn val="ctr"/>
        <c:lblOffset val="100"/>
        <c:noMultiLvlLbl val="0"/>
      </c:catAx>
      <c:valAx>
        <c:axId val="2138993600"/>
        <c:scaling>
          <c:orientation val="minMax"/>
          <c:max val="300"/>
          <c:min val="0"/>
        </c:scaling>
        <c:delete val="1"/>
        <c:axPos val="b"/>
        <c:numFmt formatCode="0" sourceLinked="1"/>
        <c:majorTickMark val="out"/>
        <c:minorTickMark val="none"/>
        <c:tickLblPos val="nextTo"/>
        <c:crossAx val="20327681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1-642B-460C-82BC-4D02400EC45B}"/>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642B-460C-82BC-4D02400EC45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Frequency!$J$22:$J$31</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Frequency!$K$22:$K$31</c:f>
              <c:numCache>
                <c:formatCode>0.0</c:formatCode>
                <c:ptCount val="10"/>
                <c:pt idx="0">
                  <c:v>1.2</c:v>
                </c:pt>
                <c:pt idx="1">
                  <c:v>1.3</c:v>
                </c:pt>
                <c:pt idx="2">
                  <c:v>1.3</c:v>
                </c:pt>
                <c:pt idx="3">
                  <c:v>1.5</c:v>
                </c:pt>
                <c:pt idx="4">
                  <c:v>1.3</c:v>
                </c:pt>
                <c:pt idx="5">
                  <c:v>1.3</c:v>
                </c:pt>
                <c:pt idx="6">
                  <c:v>1.4</c:v>
                </c:pt>
                <c:pt idx="7">
                  <c:v>1.4</c:v>
                </c:pt>
                <c:pt idx="8">
                  <c:v>1.2</c:v>
                </c:pt>
                <c:pt idx="9">
                  <c:v>1.4</c:v>
                </c:pt>
              </c:numCache>
            </c:numRef>
          </c:val>
          <c:extLst>
            <c:ext xmlns:c16="http://schemas.microsoft.com/office/drawing/2014/chart" uri="{C3380CC4-5D6E-409C-BE32-E72D297353CC}">
              <c16:uniqueId val="{00000000-38B6-428C-8FB8-AC8CA08C3898}"/>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41090696998"/>
          <c:y val="3.1161639909740545E-2"/>
          <c:w val="0.50424558909303008"/>
          <c:h val="0.93767672018051895"/>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3-F313-47FF-BEF0-509DAB6991A5}"/>
              </c:ext>
            </c:extLst>
          </c:dPt>
          <c:dPt>
            <c:idx val="12"/>
            <c:invertIfNegative val="0"/>
            <c:bubble3D val="0"/>
            <c:extLst>
              <c:ext xmlns:c16="http://schemas.microsoft.com/office/drawing/2014/chart" uri="{C3380CC4-5D6E-409C-BE32-E72D297353CC}">
                <c16:uniqueId val="{00000000-C2C3-42A4-93D9-409B7A9B7A56}"/>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F313-47FF-BEF0-509DAB6991A5}"/>
                </c:ext>
              </c:extLst>
            </c:dLbl>
            <c:dLbl>
              <c:idx val="12"/>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0-C2C3-42A4-93D9-409B7A9B7A5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Duration!$J$23:$J$32</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Duration!$K$23:$K$32</c:f>
              <c:numCache>
                <c:formatCode>0.0</c:formatCode>
                <c:ptCount val="10"/>
                <c:pt idx="0">
                  <c:v>86</c:v>
                </c:pt>
                <c:pt idx="1">
                  <c:v>100.6</c:v>
                </c:pt>
                <c:pt idx="2">
                  <c:v>114.5</c:v>
                </c:pt>
                <c:pt idx="3">
                  <c:v>98.7</c:v>
                </c:pt>
                <c:pt idx="4">
                  <c:v>84</c:v>
                </c:pt>
                <c:pt idx="5">
                  <c:v>96.8</c:v>
                </c:pt>
                <c:pt idx="6">
                  <c:v>83.7</c:v>
                </c:pt>
                <c:pt idx="7">
                  <c:v>111.2</c:v>
                </c:pt>
                <c:pt idx="8">
                  <c:v>92.5</c:v>
                </c:pt>
                <c:pt idx="9">
                  <c:v>99.7</c:v>
                </c:pt>
              </c:numCache>
            </c:numRef>
          </c:val>
          <c:extLst>
            <c:ext xmlns:c16="http://schemas.microsoft.com/office/drawing/2014/chart" uri="{C3380CC4-5D6E-409C-BE32-E72D297353CC}">
              <c16:uniqueId val="{00000000-736D-492A-8125-4F37DFD1A72D}"/>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scaling>
        <c:delete val="1"/>
        <c:axPos val="b"/>
        <c:numFmt formatCode="#,##0" sourceLinked="0"/>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11/18/2025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11/18/2025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11/18/2025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11/18/2025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chart" Target="../charts/chart1.xml"/><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jpe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18,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graphicFrame>
        <p:nvGraphicFramePr>
          <p:cNvPr id="58" name="Chart 57">
            <a:extLst>
              <a:ext uri="{FF2B5EF4-FFF2-40B4-BE49-F238E27FC236}">
                <a16:creationId xmlns:a16="http://schemas.microsoft.com/office/drawing/2014/main" id="{3CA9C49D-5C48-41BF-A010-BB2CED44A54C}"/>
              </a:ext>
            </a:extLst>
          </p:cNvPr>
          <p:cNvGraphicFramePr>
            <a:graphicFrameLocks/>
          </p:cNvGraphicFramePr>
          <p:nvPr>
            <p:extLst>
              <p:ext uri="{D42A27DB-BD31-4B8C-83A1-F6EECF244321}">
                <p14:modId xmlns:p14="http://schemas.microsoft.com/office/powerpoint/2010/main" val="342788838"/>
              </p:ext>
            </p:extLst>
          </p:nvPr>
        </p:nvGraphicFramePr>
        <p:xfrm>
          <a:off x="0" y="5633931"/>
          <a:ext cx="3747184" cy="1492311"/>
        </p:xfrm>
        <a:graphic>
          <a:graphicData uri="http://schemas.openxmlformats.org/drawingml/2006/chart">
            <c:chart xmlns:c="http://schemas.openxmlformats.org/drawingml/2006/chart" xmlns:r="http://schemas.openxmlformats.org/officeDocument/2006/relationships" r:id="rId3"/>
          </a:graphicData>
        </a:graphic>
      </p:graphicFrame>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4"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5"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6"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7">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8"/>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3"/>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3862948622"/>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5" name="Chart 4">
            <a:extLst>
              <a:ext uri="{FF2B5EF4-FFF2-40B4-BE49-F238E27FC236}">
                <a16:creationId xmlns:a16="http://schemas.microsoft.com/office/drawing/2014/main" id="{100FBCBF-F4C7-4C3A-8387-261F4DFF2854}"/>
              </a:ext>
            </a:extLst>
          </p:cNvPr>
          <p:cNvGraphicFramePr>
            <a:graphicFrameLocks/>
          </p:cNvGraphicFramePr>
          <p:nvPr>
            <p:extLst>
              <p:ext uri="{D42A27DB-BD31-4B8C-83A1-F6EECF244321}">
                <p14:modId xmlns:p14="http://schemas.microsoft.com/office/powerpoint/2010/main" val="1375482222"/>
              </p:ext>
            </p:extLst>
          </p:nvPr>
        </p:nvGraphicFramePr>
        <p:xfrm>
          <a:off x="10515600" y="2133600"/>
          <a:ext cx="1746504" cy="479755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491970029"/>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000000"/>
                          </a:solidFill>
                          <a:effectLst/>
                          <a:latin typeface="Roboto" panose="02000000000000000000" pitchFamily="2" charset="0"/>
                        </a:rPr>
                        <a:t>AVERAGE / TOTAL</a:t>
                      </a: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ontent Placeholder 15">
            <a:extLst>
              <a:ext uri="{FF2B5EF4-FFF2-40B4-BE49-F238E27FC236}">
                <a16:creationId xmlns:a16="http://schemas.microsoft.com/office/drawing/2014/main" id="{58FABEEE-6FD8-4304-A995-E1C46FEDE815}"/>
              </a:ext>
            </a:extLst>
          </p:cNvPr>
          <p:cNvGraphicFramePr>
            <a:graphicFrameLocks noGrp="1"/>
          </p:cNvGraphicFramePr>
          <p:nvPr>
            <p:ph idx="11"/>
            <p:extLst>
              <p:ext uri="{D42A27DB-BD31-4B8C-83A1-F6EECF244321}">
                <p14:modId xmlns:p14="http://schemas.microsoft.com/office/powerpoint/2010/main" val="2166503404"/>
              </p:ext>
            </p:extLst>
          </p:nvPr>
        </p:nvGraphicFramePr>
        <p:xfrm>
          <a:off x="739775" y="2146323"/>
          <a:ext cx="5486400" cy="4483076"/>
        </p:xfrm>
        <a:graphic>
          <a:graphicData uri="http://schemas.openxmlformats.org/drawingml/2006/chart">
            <c:chart xmlns:c="http://schemas.openxmlformats.org/drawingml/2006/chart" xmlns:r="http://schemas.openxmlformats.org/officeDocument/2006/relationships" r:id="rId3"/>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3C4E012-E9D4-C32E-72BD-98FCA1D561FD}"/>
              </a:ext>
            </a:extLst>
          </p:cNvPr>
          <p:cNvSpPr/>
          <p:nvPr/>
        </p:nvSpPr>
        <p:spPr>
          <a:xfrm>
            <a:off x="3627122" y="19327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“Duration” tab and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a:dk1>
      <a:srgbClr val="0C0C0C"/>
    </a:dk1>
    <a:lt1>
      <a:srgbClr val="FFFFFF"/>
    </a:lt1>
    <a:dk2>
      <a:srgbClr val="1B4273"/>
    </a:dk2>
    <a:lt2>
      <a:srgbClr val="FFFFFF"/>
    </a:lt2>
    <a:accent1>
      <a:srgbClr val="005390"/>
    </a:accent1>
    <a:accent2>
      <a:srgbClr val="C20A29"/>
    </a:accent2>
    <a:accent3>
      <a:srgbClr val="7DA222"/>
    </a:accent3>
    <a:accent4>
      <a:srgbClr val="FFC000"/>
    </a:accent4>
    <a:accent5>
      <a:srgbClr val="67A5D9"/>
    </a:accent5>
    <a:accent6>
      <a:srgbClr val="491A1F"/>
    </a:accent6>
    <a:hlink>
      <a:srgbClr val="93353E"/>
    </a:hlink>
    <a:folHlink>
      <a:srgbClr val="422B9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mso-contentType ?>
<FormTemplates xmlns="http://schemas.microsoft.com/sharepoint/v3/contenttype/forms">
  <Display>DocumentLibraryForm</Display>
  <Edit>DocumentLibraryForm</Edit>
  <New>DocumentLibraryForm</New>
</FormTemplates>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2.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3.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4.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5.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6.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7.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8.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9.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0.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1.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12.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3.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4.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5.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6.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7.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18.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19.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20.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21.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2.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23.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24.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25.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26.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27.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28.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29.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30.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31.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32.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33.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34.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35.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36.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37.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38.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39.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40.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41.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42.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43.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44.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45.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46.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47.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48.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49.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50.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51.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52.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53.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54.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55.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56.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57.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58.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59.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60.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61.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62.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63.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64.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65.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66.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67.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68.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69.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70.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71.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72.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73.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74.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75.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76.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77.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78.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79.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80.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81.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82.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83.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84.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85.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86.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87.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88.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89.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90.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91.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92.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93.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94.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95.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96.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97.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98.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99.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00.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101.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102.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03.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04.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105.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106.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07.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08.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09.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10.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111.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112.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113.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14.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115.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116.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17.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18.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19.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20.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21.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22.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123.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124.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125.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126.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127.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28.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129.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30.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31.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132.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33.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134.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135.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136.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137.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38.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39.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40.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141.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42.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143.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144.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45.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146.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47.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148.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149.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150.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51.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152.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153.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54.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55.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156.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57.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158.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159.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60.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61.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62.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163.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164.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65.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166.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67.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68.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69.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70.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71.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72.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73.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174.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175.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176.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77.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78.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79.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80.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81.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182.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183.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84.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85.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186.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187.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188.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89.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190.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191.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192.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193.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94.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95.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196.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197.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198.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199.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200.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201.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202.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203.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204.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205.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206.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207.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208.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09.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210.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211.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12.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13.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14.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215.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216.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217.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218.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219.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220.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221.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222.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223.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224.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225.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226.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227.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228.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229.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230.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231.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232.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233.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234.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235.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236.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237.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238.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239.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240.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241.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242.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243.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244.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245.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246.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247.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248.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49.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250.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251.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252.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253.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254.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255.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256.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257.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258.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259.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260.xml><?xml version="1.0" encoding="utf-8"?>
<ds:datastoreItem xmlns:ds="http://schemas.openxmlformats.org/officeDocument/2006/customXml" ds:itemID="{4E1B5CEC-2AC2-4C5D-9E88-30D8BFF63091}">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1750</TotalTime>
  <Words>2966</Words>
  <Application>Microsoft Office PowerPoint</Application>
  <PresentationFormat>Custom</PresentationFormat>
  <Paragraphs>631</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152</cp:revision>
  <cp:lastPrinted>2021-09-02T15:36:20Z</cp:lastPrinted>
  <dcterms:created xsi:type="dcterms:W3CDTF">2019-03-01T18:53:51Z</dcterms:created>
  <dcterms:modified xsi:type="dcterms:W3CDTF">2025-11-18T14:50:19Z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