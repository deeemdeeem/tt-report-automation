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28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578"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1" d="100"/>
          <a:sy n="131" d="100"/>
        </p:scale>
        <p:origin x="3270" y="336"/>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11/21/2025</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11/21/2025</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61317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11/21/2025</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2025,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11/21/2025</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image" Target="../media/image23.pn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7.png"/><Relationship Id="rId11" Type="http://schemas.openxmlformats.org/officeDocument/2006/relationships/image" Target="../media/image22.sv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jpeg"/><Relationship Id="rId9" Type="http://schemas.openxmlformats.org/officeDocument/2006/relationships/image" Target="../media/image20.sv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3.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November 21, 2025</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a:solidFill>
                  <a:srgbClr val="273E6D"/>
                </a:solidFill>
                <a:latin typeface="+mj-lt"/>
                <a:cs typeface="Arial" panose="020B0604020202020204" pitchFamily="34" charset="0"/>
              </a:rPr>
              <a:t>Time period of the data: September 2023 – August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
        <p:nvSpPr>
          <p:cNvPr id="11" name="Rectangle 10">
            <a:extLst>
              <a:ext uri="{FF2B5EF4-FFF2-40B4-BE49-F238E27FC236}">
                <a16:creationId xmlns:a16="http://schemas.microsoft.com/office/drawing/2014/main" id="{BFA8B1C6-EF39-4EBF-5283-DBCCD6168483}"/>
              </a:ext>
            </a:extLst>
          </p:cNvPr>
          <p:cNvSpPr/>
          <p:nvPr/>
        </p:nvSpPr>
        <p:spPr>
          <a:xfrm>
            <a:off x="8391438" y="3951802"/>
            <a:ext cx="2416175" cy="1404545"/>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timeframe</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3"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4"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5"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VISITOR ORIGIN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6">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a:solidFill>
                  <a:srgbClr val="0C0C0C"/>
                </a:solidFill>
                <a:latin typeface="Arial" panose="020B0604020202020204"/>
              </a:rPr>
              <a:t>ZIP5</a:t>
            </a:r>
            <a:endParaRPr lang="en-US" sz="1020" dirty="0">
              <a:solidFill>
                <a:srgbClr val="0C0C0C"/>
              </a:solidFill>
              <a:latin typeface="Arial" panose="020B0604020202020204"/>
            </a:endParaRP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7"/>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2"/>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dirty="0">
                <a:solidFill>
                  <a:srgbClr val="000000"/>
                </a:solidFill>
              </a:rPr>
              <a:t>[Destination Name]</a:t>
            </a:r>
            <a:endParaRPr lang="en-US" sz="2800" dirty="0"/>
          </a:p>
          <a:p>
            <a:r>
              <a:rPr lang="en-US" sz="2800" dirty="0">
                <a:solidFill>
                  <a:srgbClr val="000000"/>
                </a:solidFill>
              </a:rPr>
              <a:t>Visitor Personas</a:t>
            </a:r>
            <a:endParaRPr lang="en-US" sz="2800" dirty="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dirty="0">
                <a:ea typeface="Calibri"/>
                <a:cs typeface="Calibri"/>
              </a:rPr>
              <a:t>Top 4 Visitor Personas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dirty="0">
                <a:solidFill>
                  <a:schemeClr val="tx1"/>
                </a:solidFill>
              </a:rPr>
              <a:t> </a:t>
            </a:r>
            <a:endParaRPr lang="en-US" sz="1200" dirty="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dirty="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dirty="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dirty="0">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533311" y="2508340"/>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19" name="Rectangle 18">
            <a:extLst>
              <a:ext uri="{FF2B5EF4-FFF2-40B4-BE49-F238E27FC236}">
                <a16:creationId xmlns:a16="http://schemas.microsoft.com/office/drawing/2014/main" id="{1627CCF2-D9C0-21B7-F89F-8E5098A9A502}"/>
              </a:ext>
            </a:extLst>
          </p:cNvPr>
          <p:cNvSpPr/>
          <p:nvPr/>
        </p:nvSpPr>
        <p:spPr>
          <a:xfrm>
            <a:off x="4322232" y="2490424"/>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0" name="Rectangle 19">
            <a:extLst>
              <a:ext uri="{FF2B5EF4-FFF2-40B4-BE49-F238E27FC236}">
                <a16:creationId xmlns:a16="http://schemas.microsoft.com/office/drawing/2014/main" id="{FA28097F-1F0F-3039-3EB0-73272A614D93}"/>
              </a:ext>
            </a:extLst>
          </p:cNvPr>
          <p:cNvSpPr/>
          <p:nvPr/>
        </p:nvSpPr>
        <p:spPr>
          <a:xfrm>
            <a:off x="7161297"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1" name="Rectangle 20">
            <a:extLst>
              <a:ext uri="{FF2B5EF4-FFF2-40B4-BE49-F238E27FC236}">
                <a16:creationId xmlns:a16="http://schemas.microsoft.com/office/drawing/2014/main" id="{34956ACE-C7FC-57DC-125B-0DFD62FE4AF5}"/>
              </a:ext>
            </a:extLst>
          </p:cNvPr>
          <p:cNvSpPr/>
          <p:nvPr/>
        </p:nvSpPr>
        <p:spPr>
          <a:xfrm>
            <a:off x="9950218"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4" name="Rectangle 3">
            <a:extLst>
              <a:ext uri="{FF2B5EF4-FFF2-40B4-BE49-F238E27FC236}">
                <a16:creationId xmlns:a16="http://schemas.microsoft.com/office/drawing/2014/main" id="{11D4BB30-F07C-F354-99A6-825EC7134CB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Get Tapestry Data from Dashboard &gt; Overview&gt; Tapestry Profile</a:t>
            </a:r>
          </a:p>
        </p:txBody>
      </p:sp>
      <p:sp>
        <p:nvSpPr>
          <p:cNvPr id="7" name="Rectangle 6">
            <a:extLst>
              <a:ext uri="{FF2B5EF4-FFF2-40B4-BE49-F238E27FC236}">
                <a16:creationId xmlns:a16="http://schemas.microsoft.com/office/drawing/2014/main" id="{C27265FA-7C61-24A8-FC2A-7C79A282EAD8}"/>
              </a:ext>
            </a:extLst>
          </p:cNvPr>
          <p:cNvSpPr/>
          <p:nvPr/>
        </p:nvSpPr>
        <p:spPr>
          <a:xfrm>
            <a:off x="186727" y="443779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dirty="0">
                <a:solidFill>
                  <a:srgbClr val="FFFFFF"/>
                </a:solidFill>
                <a:latin typeface="Arial" panose="020B0604020202020204"/>
              </a:rPr>
              <a:t>Replace Tapestry source</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algn="ctr" defTabSz="987527">
              <a:defRPr/>
            </a:pPr>
            <a:r>
              <a:rPr lang="en-US" sz="1944" kern="0" dirty="0">
                <a:solidFill>
                  <a:srgbClr val="FFFFFF"/>
                </a:solidFill>
                <a:latin typeface="Arial" panose="020B0604020202020204"/>
              </a:rPr>
              <a:t>“</a:t>
            </a:r>
            <a:r>
              <a:rPr lang="en-US" sz="2000" i="1" dirty="0">
                <a:solidFill>
                  <a:schemeClr val="bg1"/>
                </a:solidFill>
              </a:rPr>
              <a:t>Source: TruTrade (January 2023 - December 2023); Tapestry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
        <p:nvSpPr>
          <p:cNvPr id="10" name="Slide Number Placeholder 4">
            <a:extLst>
              <a:ext uri="{FF2B5EF4-FFF2-40B4-BE49-F238E27FC236}">
                <a16:creationId xmlns:a16="http://schemas.microsoft.com/office/drawing/2014/main" id="{4A4680B7-71B7-151E-5A9B-753AE4AE45CC}"/>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dirty="0">
              <a:solidFill>
                <a:schemeClr val="bg1"/>
              </a:solidFill>
            </a:endParaRPr>
          </a:p>
        </p:txBody>
      </p:sp>
      <p:sp>
        <p:nvSpPr>
          <p:cNvPr id="8" name="Rectangle 7">
            <a:extLst>
              <a:ext uri="{FF2B5EF4-FFF2-40B4-BE49-F238E27FC236}">
                <a16:creationId xmlns:a16="http://schemas.microsoft.com/office/drawing/2014/main" id="{DC356E5A-7FD9-16B0-17BD-0EC1EEA63776}"/>
              </a:ext>
            </a:extLst>
          </p:cNvPr>
          <p:cNvSpPr/>
          <p:nvPr/>
        </p:nvSpPr>
        <p:spPr>
          <a:xfrm>
            <a:off x="9336968" y="676655"/>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Cover “more info” with MSA Index</a:t>
            </a:r>
          </a:p>
        </p:txBody>
      </p:sp>
      <p:sp>
        <p:nvSpPr>
          <p:cNvPr id="11" name="Rectangle 10">
            <a:extLst>
              <a:ext uri="{FF2B5EF4-FFF2-40B4-BE49-F238E27FC236}">
                <a16:creationId xmlns:a16="http://schemas.microsoft.com/office/drawing/2014/main" id="{3F5C5804-3130-F3D2-FF6E-B9ADE8F496C0}"/>
              </a:ext>
            </a:extLst>
          </p:cNvPr>
          <p:cNvSpPr/>
          <p:nvPr/>
        </p:nvSpPr>
        <p:spPr>
          <a:xfrm>
            <a:off x="9233046" y="2996858"/>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MSA Index</a:t>
            </a:r>
          </a:p>
        </p:txBody>
      </p:sp>
    </p:spTree>
    <p:extLst>
      <p:ext uri="{BB962C8B-B14F-4D97-AF65-F5344CB8AC3E}">
        <p14:creationId xmlns:p14="http://schemas.microsoft.com/office/powerpoint/2010/main" val="3885044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136336984"/>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C9CFC631-7C4F-A187-CA43-A5E679E88AB6}"/>
              </a:ext>
            </a:extLst>
          </p:cNvPr>
          <p:cNvSpPr/>
          <p:nvPr/>
        </p:nvSpPr>
        <p:spPr>
          <a:xfrm>
            <a:off x="6072923" y="1752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CompetitiveMarketPosition</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3" name="Rectangle 2">
            <a:extLst>
              <a:ext uri="{FF2B5EF4-FFF2-40B4-BE49-F238E27FC236}">
                <a16:creationId xmlns:a16="http://schemas.microsoft.com/office/drawing/2014/main" id="{7F93D2B0-24F1-BFBF-D2DF-49DBBAFC8D05}"/>
              </a:ext>
            </a:extLst>
          </p:cNvPr>
          <p:cNvSpPr/>
          <p:nvPr/>
        </p:nvSpPr>
        <p:spPr>
          <a:xfrm>
            <a:off x="4101101"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DrawDemo</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Visitor Origin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MTZIP_10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a:t>
            </a:r>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491970029"/>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000000"/>
                          </a:solidFill>
                          <a:effectLst/>
                          <a:latin typeface="Roboto" panose="02000000000000000000" pitchFamily="2" charset="0"/>
                        </a:rPr>
                        <a:t>AVERAGE / TOTAL</a:t>
                      </a: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
        <p:nvSpPr>
          <p:cNvPr id="2" name="Rectangle 1">
            <a:extLst>
              <a:ext uri="{FF2B5EF4-FFF2-40B4-BE49-F238E27FC236}">
                <a16:creationId xmlns:a16="http://schemas.microsoft.com/office/drawing/2014/main" id="{AE3A3B0B-10F7-EA48-2751-C72DF6F59DD8}"/>
              </a:ext>
            </a:extLst>
          </p:cNvPr>
          <p:cNvSpPr/>
          <p:nvPr/>
        </p:nvSpPr>
        <p:spPr>
          <a:xfrm>
            <a:off x="3875314" y="24214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ZipCodes</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5">
            <a:extLst>
              <a:ext uri="{FF2B5EF4-FFF2-40B4-BE49-F238E27FC236}">
                <a16:creationId xmlns:a16="http://schemas.microsoft.com/office/drawing/2014/main" id="{B035AA2B-49EB-E8C6-76A7-88B0D6EE5608}"/>
              </a:ext>
            </a:extLst>
          </p:cNvPr>
          <p:cNvSpPr>
            <a:spLocks noGrp="1"/>
          </p:cNvSpPr>
          <p:nvPr>
            <p:ph idx="11"/>
          </p:nvPr>
        </p:nvSpPr>
        <p:spPr/>
        <p:txBody>
          <a:bodyPr/>
          <a:lstStyle/>
          <a:p>
            <a:endParaRPr lang="en-US"/>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44.9%</a:t>
            </a:r>
            <a:endParaRPr lang="en-US" sz="180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36.9%</a:t>
            </a:r>
            <a:endParaRPr lang="en-US" sz="180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4057615800"/>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1214896333"/>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a:solidFill>
                            <a:srgbClr val="000000"/>
                          </a:solidFill>
                          <a:effectLst/>
                          <a:latin typeface="Calibri" panose="020F0502020204030204" pitchFamily="34" charset="0"/>
                        </a:rPr>
                        <a:t>78739, Austin, TX (19.8%)</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(6.7%)</a:t>
                      </a: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(4.5%)</a:t>
                      </a: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(3.2%)</a:t>
                      </a: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lang="en-US" sz="1100" b="0" i="0" u="none" strike="noStrike">
                          <a:solidFill>
                            <a:srgbClr val="000000"/>
                          </a:solidFill>
                          <a:effectLst/>
                          <a:latin typeface="Calibri" panose="020F0502020204030204" pitchFamily="34" charset="0"/>
                        </a:rPr>
                        <a:t>78737, Austin, TX (2.6%)</a:t>
                      </a: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726741995"/>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a:solidFill>
                            <a:srgbClr val="000000"/>
                          </a:solidFill>
                          <a:effectLst/>
                          <a:latin typeface="Calibri" panose="020F0502020204030204" pitchFamily="34" charset="0"/>
                        </a:rPr>
                        <a:t>78739, Austin, TX (25.4%)</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(6.8%)</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(5.4%)</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(4.3%)</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a:solidFill>
                            <a:srgbClr val="000000"/>
                          </a:solidFill>
                          <a:effectLst/>
                          <a:latin typeface="Calibri" panose="020F0502020204030204" pitchFamily="34" charset="0"/>
                        </a:rPr>
                        <a:t>78641, Leander, TX (3.0%)</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3246331" y="4389120"/>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8077200" y="1371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noProof="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37 PPT Export</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1A7ADB6F-D866-473D-F5B8-BFB6B38B4941}"/>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2CCC9C64-1CB9-8FE8-58E4-3ACC061C8C0A}"/>
              </a:ext>
            </a:extLst>
          </p:cNvPr>
          <p:cNvSpPr/>
          <p:nvPr/>
        </p:nvSpPr>
        <p:spPr>
          <a:xfrm>
            <a:off x="8096108" y="132837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31 PPT Export</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Visitor Origin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Visitor Origin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mso-contentType ?>
<FormTemplates xmlns="http://schemas.microsoft.com/sharepoint/v3/contenttype/forms">
  <Display>DocumentLibraryForm</Display>
  <Edit>DocumentLibraryForm</Edit>
  <New>DocumentLibraryForm</New>
</FormTemplates>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2.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3.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4.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5.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6.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7.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8.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9.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10.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11.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12.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13.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14.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15.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16.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17.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18.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19.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20.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21.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22.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23.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24.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25.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26.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27.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28.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29.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30.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1.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32.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33.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34.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35.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36.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37.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38.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39.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40.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41.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42.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43.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44.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45.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46.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47.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48.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49.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50.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51.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52.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53.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54.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55.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56.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57.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58.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59.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60.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61.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62.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63.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64.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65.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66.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67.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68.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69.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70.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71.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72.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73.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74.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75.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76.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77.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78.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79.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80.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81.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82.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83.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84.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85.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86.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87.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88.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89.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90.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91.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92.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93.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94.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95.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96.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97.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98.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99.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100.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101.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102.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03.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104.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105.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106.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107.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108.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109.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110.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111.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112.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113.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114.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115.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16.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117.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118.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119.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120.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121.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122.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123.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124.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125.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126.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127.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128.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129.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130.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131.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132.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133.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34.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135.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136.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137.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138.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139.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140.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141.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142.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43.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144.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145.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146.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147.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148.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149.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150.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51.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152.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153.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154.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55.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156.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157.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158.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159.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160.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161.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162.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163.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164.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165.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66.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167.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168.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169.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170.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171.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172.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173.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174.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175.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176.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177.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178.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79.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180.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181.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182.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183.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184.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185.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186.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187.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88.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89.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90.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191.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192.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193.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194.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195.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196.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197.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198.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199.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200.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201.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202.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203.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204.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205.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206.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207.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208.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209.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210.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211.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212.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213.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214.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215.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216.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217.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218.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219.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220.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221.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222.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223.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224.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225.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226.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227.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228.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229.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230.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231.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232.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233.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234.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235.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236.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237.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238.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239.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240.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241.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242.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243.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244.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245.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246.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247.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248.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249.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250.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251.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252.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253.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254.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255.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256.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257.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258.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259.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260.xml><?xml version="1.0" encoding="utf-8"?>
<ds:datastoreItem xmlns:ds="http://schemas.openxmlformats.org/officeDocument/2006/customXml" ds:itemID="{853F7EBD-E830-42F3-91C5-9535CB595E15}">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1930</TotalTime>
  <Words>2987</Words>
  <Application>Microsoft Office PowerPoint</Application>
  <PresentationFormat>Custom</PresentationFormat>
  <Paragraphs>641</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Visitor Origin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162</cp:revision>
  <cp:lastPrinted>2021-09-02T15:36:20Z</cp:lastPrinted>
  <dcterms:created xsi:type="dcterms:W3CDTF">2019-03-01T18:53:51Z</dcterms:created>
  <dcterms:modified xsi:type="dcterms:W3CDTF">2025-11-20T20:27:12Z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